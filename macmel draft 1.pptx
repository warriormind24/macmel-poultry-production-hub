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8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svg"/><Relationship Id="rId1" Type="http://schemas.openxmlformats.org/officeDocument/2006/relationships/image" Target="../media/image10.svg"/><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svg"/><Relationship Id="rId1" Type="http://schemas.openxmlformats.org/officeDocument/2006/relationships/image" Target="../media/image10.svg"/><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03DEE8-CF0A-4B97-8786-74E3A74FA3C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660EE9C-EFCA-4204-977B-3789755BA44C}">
      <dgm:prSet/>
      <dgm:spPr/>
      <dgm:t>
        <a:bodyPr/>
        <a:lstStyle/>
        <a:p>
          <a:pPr>
            <a:lnSpc>
              <a:spcPct val="100000"/>
            </a:lnSpc>
          </a:pPr>
          <a:r>
            <a:rPr lang="en-ZM" b="1"/>
            <a:t>Breed Purity &amp; Quality</a:t>
          </a:r>
          <a:r>
            <a:rPr lang="en-ZM"/>
            <a:t> — Carefully selected and maintained genetics for optimal meat yield and taste</a:t>
          </a:r>
          <a:endParaRPr lang="en-US"/>
        </a:p>
      </dgm:t>
    </dgm:pt>
    <dgm:pt modelId="{2F4783B7-ED14-40BC-952A-9FF52309FEB5}" type="parTrans" cxnId="{6BF1011B-A06C-4F8C-B908-E7186BDC8F54}">
      <dgm:prSet/>
      <dgm:spPr/>
      <dgm:t>
        <a:bodyPr/>
        <a:lstStyle/>
        <a:p>
          <a:endParaRPr lang="en-US"/>
        </a:p>
      </dgm:t>
    </dgm:pt>
    <dgm:pt modelId="{C13D65AF-36F4-4B9C-9024-3AF95E0F6CBE}" type="sibTrans" cxnId="{6BF1011B-A06C-4F8C-B908-E7186BDC8F54}">
      <dgm:prSet/>
      <dgm:spPr/>
      <dgm:t>
        <a:bodyPr/>
        <a:lstStyle/>
        <a:p>
          <a:endParaRPr lang="en-US"/>
        </a:p>
      </dgm:t>
    </dgm:pt>
    <dgm:pt modelId="{8F4AED00-6FFC-4C1A-9FF0-2DD4B57BD766}">
      <dgm:prSet/>
      <dgm:spPr/>
      <dgm:t>
        <a:bodyPr/>
        <a:lstStyle/>
        <a:p>
          <a:pPr>
            <a:lnSpc>
              <a:spcPct val="100000"/>
            </a:lnSpc>
          </a:pPr>
          <a:r>
            <a:rPr lang="en-ZM" b="1"/>
            <a:t>100% Natural Meat</a:t>
          </a:r>
          <a:r>
            <a:rPr lang="en-ZM"/>
            <a:t> — No hormones or unnecessary antibiotics — naturally raised birds</a:t>
          </a:r>
          <a:endParaRPr lang="en-US"/>
        </a:p>
      </dgm:t>
    </dgm:pt>
    <dgm:pt modelId="{88B88F0F-CF43-48F7-BA7F-358039A8C3BF}" type="parTrans" cxnId="{85A05566-B736-4DA7-B55A-C5CE5F6385C8}">
      <dgm:prSet/>
      <dgm:spPr/>
      <dgm:t>
        <a:bodyPr/>
        <a:lstStyle/>
        <a:p>
          <a:endParaRPr lang="en-US"/>
        </a:p>
      </dgm:t>
    </dgm:pt>
    <dgm:pt modelId="{165510C8-9901-4312-8D8A-6A7634487684}" type="sibTrans" cxnId="{85A05566-B736-4DA7-B55A-C5CE5F6385C8}">
      <dgm:prSet/>
      <dgm:spPr/>
      <dgm:t>
        <a:bodyPr/>
        <a:lstStyle/>
        <a:p>
          <a:endParaRPr lang="en-US"/>
        </a:p>
      </dgm:t>
    </dgm:pt>
    <dgm:pt modelId="{3E5CC052-87D3-4FBC-845A-F11EA9CF4677}">
      <dgm:prSet/>
      <dgm:spPr/>
      <dgm:t>
        <a:bodyPr/>
        <a:lstStyle/>
        <a:p>
          <a:pPr>
            <a:lnSpc>
              <a:spcPct val="100000"/>
            </a:lnSpc>
          </a:pPr>
          <a:r>
            <a:rPr lang="en-ZM" b="1"/>
            <a:t>Health Guarantee</a:t>
          </a:r>
          <a:r>
            <a:rPr lang="en-ZM"/>
            <a:t> — Strict biosecurity, vaccination, and disease prevention protocols</a:t>
          </a:r>
          <a:endParaRPr lang="en-US"/>
        </a:p>
      </dgm:t>
    </dgm:pt>
    <dgm:pt modelId="{9F170A9A-30C6-4C9A-BF93-59CD3BBC32FA}" type="parTrans" cxnId="{95B022C6-8BAC-4700-9174-D65B66015260}">
      <dgm:prSet/>
      <dgm:spPr/>
      <dgm:t>
        <a:bodyPr/>
        <a:lstStyle/>
        <a:p>
          <a:endParaRPr lang="en-US"/>
        </a:p>
      </dgm:t>
    </dgm:pt>
    <dgm:pt modelId="{29EDEA5C-F51D-43B3-B5C5-62AE24312484}" type="sibTrans" cxnId="{95B022C6-8BAC-4700-9174-D65B66015260}">
      <dgm:prSet/>
      <dgm:spPr/>
      <dgm:t>
        <a:bodyPr/>
        <a:lstStyle/>
        <a:p>
          <a:endParaRPr lang="en-US"/>
        </a:p>
      </dgm:t>
    </dgm:pt>
    <dgm:pt modelId="{0EABEBE3-5546-4C66-9C8D-CBB143BC5B8E}">
      <dgm:prSet/>
      <dgm:spPr/>
      <dgm:t>
        <a:bodyPr/>
        <a:lstStyle/>
        <a:p>
          <a:pPr>
            <a:lnSpc>
              <a:spcPct val="100000"/>
            </a:lnSpc>
          </a:pPr>
          <a:r>
            <a:rPr lang="en-ZM" b="1"/>
            <a:t>Expert Advice</a:t>
          </a:r>
          <a:r>
            <a:rPr lang="en-ZM"/>
            <a:t> — Detailed guidance tailored to each breed (housing, feeding, health management)</a:t>
          </a:r>
          <a:endParaRPr lang="en-US"/>
        </a:p>
      </dgm:t>
    </dgm:pt>
    <dgm:pt modelId="{CEA282B1-4B6B-44AE-9D10-1A34B807D5C0}" type="parTrans" cxnId="{AAF60032-32E2-4CCD-A395-A97C7336CBAB}">
      <dgm:prSet/>
      <dgm:spPr/>
      <dgm:t>
        <a:bodyPr/>
        <a:lstStyle/>
        <a:p>
          <a:endParaRPr lang="en-US"/>
        </a:p>
      </dgm:t>
    </dgm:pt>
    <dgm:pt modelId="{10704DA3-B1AB-4331-B556-20C78A9606F5}" type="sibTrans" cxnId="{AAF60032-32E2-4CCD-A395-A97C7336CBAB}">
      <dgm:prSet/>
      <dgm:spPr/>
      <dgm:t>
        <a:bodyPr/>
        <a:lstStyle/>
        <a:p>
          <a:endParaRPr lang="en-US"/>
        </a:p>
      </dgm:t>
    </dgm:pt>
    <dgm:pt modelId="{F931E176-F795-4288-ADC9-23501A99DFF0}">
      <dgm:prSet/>
      <dgm:spPr/>
      <dgm:t>
        <a:bodyPr/>
        <a:lstStyle/>
        <a:p>
          <a:pPr>
            <a:lnSpc>
              <a:spcPct val="100000"/>
            </a:lnSpc>
          </a:pPr>
          <a:r>
            <a:rPr lang="en-ZM" b="1"/>
            <a:t>Sustainability</a:t>
          </a:r>
          <a:r>
            <a:rPr lang="en-ZM"/>
            <a:t> — Emphasis on free-range and semi-intensive systems with eco-friendly practices</a:t>
          </a:r>
          <a:endParaRPr lang="en-US"/>
        </a:p>
      </dgm:t>
    </dgm:pt>
    <dgm:pt modelId="{FCAC92F6-CB2F-433F-B357-0D617C22F20C}" type="parTrans" cxnId="{5ED979A8-746B-4064-88E9-1ABC016D6C64}">
      <dgm:prSet/>
      <dgm:spPr/>
      <dgm:t>
        <a:bodyPr/>
        <a:lstStyle/>
        <a:p>
          <a:endParaRPr lang="en-US"/>
        </a:p>
      </dgm:t>
    </dgm:pt>
    <dgm:pt modelId="{A610736A-4C40-4CDF-93A9-9F4DF56E65D2}" type="sibTrans" cxnId="{5ED979A8-746B-4064-88E9-1ABC016D6C64}">
      <dgm:prSet/>
      <dgm:spPr/>
      <dgm:t>
        <a:bodyPr/>
        <a:lstStyle/>
        <a:p>
          <a:endParaRPr lang="en-US"/>
        </a:p>
      </dgm:t>
    </dgm:pt>
    <dgm:pt modelId="{37AD74D1-8DA9-4FDF-A6A3-D2CE4D2CCFD9}">
      <dgm:prSet/>
      <dgm:spPr/>
      <dgm:t>
        <a:bodyPr/>
        <a:lstStyle/>
        <a:p>
          <a:pPr>
            <a:lnSpc>
              <a:spcPct val="100000"/>
            </a:lnSpc>
          </a:pPr>
          <a:r>
            <a:rPr lang="en-ZM" b="1"/>
            <a:t>Reliable Supply</a:t>
          </a:r>
          <a:r>
            <a:rPr lang="en-ZM"/>
            <a:t> — Consistent availability from our hub in Chililabombwe to butcheries and markets</a:t>
          </a:r>
          <a:endParaRPr lang="en-US"/>
        </a:p>
      </dgm:t>
    </dgm:pt>
    <dgm:pt modelId="{84D22ED9-44EA-4D64-98C3-C29CA9A754D7}" type="parTrans" cxnId="{316D3F8D-4058-4150-A93C-2723BB7F1156}">
      <dgm:prSet/>
      <dgm:spPr/>
      <dgm:t>
        <a:bodyPr/>
        <a:lstStyle/>
        <a:p>
          <a:endParaRPr lang="en-US"/>
        </a:p>
      </dgm:t>
    </dgm:pt>
    <dgm:pt modelId="{FC9748E0-8AAE-478A-B849-F40B37420D9D}" type="sibTrans" cxnId="{316D3F8D-4058-4150-A93C-2723BB7F1156}">
      <dgm:prSet/>
      <dgm:spPr/>
      <dgm:t>
        <a:bodyPr/>
        <a:lstStyle/>
        <a:p>
          <a:endParaRPr lang="en-US"/>
        </a:p>
      </dgm:t>
    </dgm:pt>
    <dgm:pt modelId="{A00F76FD-0AC4-427C-822F-69BC39146D3D}">
      <dgm:prSet/>
      <dgm:spPr/>
      <dgm:t>
        <a:bodyPr/>
        <a:lstStyle/>
        <a:p>
          <a:pPr>
            <a:lnSpc>
              <a:spcPct val="100000"/>
            </a:lnSpc>
          </a:pPr>
          <a:r>
            <a:rPr lang="en-ZM" b="1"/>
            <a:t>Our Portfolio</a:t>
          </a:r>
          <a:endParaRPr lang="en-US"/>
        </a:p>
      </dgm:t>
    </dgm:pt>
    <dgm:pt modelId="{46290561-764B-4659-B8DE-E3BD9D7BA88E}" type="parTrans" cxnId="{53609AB4-7B3A-4592-BA8F-37D513C978A5}">
      <dgm:prSet/>
      <dgm:spPr/>
      <dgm:t>
        <a:bodyPr/>
        <a:lstStyle/>
        <a:p>
          <a:endParaRPr lang="en-US"/>
        </a:p>
      </dgm:t>
    </dgm:pt>
    <dgm:pt modelId="{0C6FB968-125B-4016-B5E5-88BFB26AC192}" type="sibTrans" cxnId="{53609AB4-7B3A-4592-BA8F-37D513C978A5}">
      <dgm:prSet/>
      <dgm:spPr/>
      <dgm:t>
        <a:bodyPr/>
        <a:lstStyle/>
        <a:p>
          <a:endParaRPr lang="en-US"/>
        </a:p>
      </dgm:t>
    </dgm:pt>
    <dgm:pt modelId="{71341ACA-7EB6-4AF4-897D-C114D37EB823}" type="pres">
      <dgm:prSet presAssocID="{3603DEE8-CF0A-4B97-8786-74E3A74FA3C0}" presName="root" presStyleCnt="0">
        <dgm:presLayoutVars>
          <dgm:dir/>
          <dgm:resizeHandles val="exact"/>
        </dgm:presLayoutVars>
      </dgm:prSet>
      <dgm:spPr/>
    </dgm:pt>
    <dgm:pt modelId="{76609D2E-5D80-40EB-BDC5-6B3E8162828D}" type="pres">
      <dgm:prSet presAssocID="{6660EE9C-EFCA-4204-977B-3789755BA44C}" presName="compNode" presStyleCnt="0"/>
      <dgm:spPr/>
    </dgm:pt>
    <dgm:pt modelId="{472DCCF6-4E3E-4F5F-8658-94CF347262DD}" type="pres">
      <dgm:prSet presAssocID="{6660EE9C-EFCA-4204-977B-3789755BA44C}" presName="bgRect" presStyleLbl="bgShp" presStyleIdx="0" presStyleCnt="7"/>
      <dgm:spPr/>
    </dgm:pt>
    <dgm:pt modelId="{84F9B297-4449-4C2C-A10E-F8B27DC51341}" type="pres">
      <dgm:prSet presAssocID="{6660EE9C-EFCA-4204-977B-3789755BA44C}"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ow"/>
        </a:ext>
      </dgm:extLst>
    </dgm:pt>
    <dgm:pt modelId="{8DBE701F-FEED-4922-BCE2-7BCC8AA4DAE6}" type="pres">
      <dgm:prSet presAssocID="{6660EE9C-EFCA-4204-977B-3789755BA44C}" presName="spaceRect" presStyleCnt="0"/>
      <dgm:spPr/>
    </dgm:pt>
    <dgm:pt modelId="{1B73B12A-11A9-48C3-9773-F24B3169C1B1}" type="pres">
      <dgm:prSet presAssocID="{6660EE9C-EFCA-4204-977B-3789755BA44C}" presName="parTx" presStyleLbl="revTx" presStyleIdx="0" presStyleCnt="7">
        <dgm:presLayoutVars>
          <dgm:chMax val="0"/>
          <dgm:chPref val="0"/>
        </dgm:presLayoutVars>
      </dgm:prSet>
      <dgm:spPr/>
    </dgm:pt>
    <dgm:pt modelId="{2DA97872-8872-4593-9F39-5CADDF881D03}" type="pres">
      <dgm:prSet presAssocID="{C13D65AF-36F4-4B9C-9024-3AF95E0F6CBE}" presName="sibTrans" presStyleCnt="0"/>
      <dgm:spPr/>
    </dgm:pt>
    <dgm:pt modelId="{5493B988-96E9-4159-AF55-CB111C77904E}" type="pres">
      <dgm:prSet presAssocID="{8F4AED00-6FFC-4C1A-9FF0-2DD4B57BD766}" presName="compNode" presStyleCnt="0"/>
      <dgm:spPr/>
    </dgm:pt>
    <dgm:pt modelId="{5B5DF454-B953-4EF2-BCBB-2A73AF78AF3B}" type="pres">
      <dgm:prSet presAssocID="{8F4AED00-6FFC-4C1A-9FF0-2DD4B57BD766}" presName="bgRect" presStyleLbl="bgShp" presStyleIdx="1" presStyleCnt="7"/>
      <dgm:spPr/>
    </dgm:pt>
    <dgm:pt modelId="{701F11D0-5221-45E9-B34F-412B747BCCF9}" type="pres">
      <dgm:prSet presAssocID="{8F4AED00-6FFC-4C1A-9FF0-2DD4B57BD766}"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arm scene"/>
        </a:ext>
      </dgm:extLst>
    </dgm:pt>
    <dgm:pt modelId="{BBCC94F0-4D7B-4EC4-9034-2D49F49D604C}" type="pres">
      <dgm:prSet presAssocID="{8F4AED00-6FFC-4C1A-9FF0-2DD4B57BD766}" presName="spaceRect" presStyleCnt="0"/>
      <dgm:spPr/>
    </dgm:pt>
    <dgm:pt modelId="{57A26CD2-FCC6-40A5-BEFB-D647C0F93BF1}" type="pres">
      <dgm:prSet presAssocID="{8F4AED00-6FFC-4C1A-9FF0-2DD4B57BD766}" presName="parTx" presStyleLbl="revTx" presStyleIdx="1" presStyleCnt="7">
        <dgm:presLayoutVars>
          <dgm:chMax val="0"/>
          <dgm:chPref val="0"/>
        </dgm:presLayoutVars>
      </dgm:prSet>
      <dgm:spPr/>
    </dgm:pt>
    <dgm:pt modelId="{89E9E490-1672-40E7-A702-D421C162399D}" type="pres">
      <dgm:prSet presAssocID="{165510C8-9901-4312-8D8A-6A7634487684}" presName="sibTrans" presStyleCnt="0"/>
      <dgm:spPr/>
    </dgm:pt>
    <dgm:pt modelId="{321B7D09-ACC8-4924-9239-F770BA9A199F}" type="pres">
      <dgm:prSet presAssocID="{3E5CC052-87D3-4FBC-845A-F11EA9CF4677}" presName="compNode" presStyleCnt="0"/>
      <dgm:spPr/>
    </dgm:pt>
    <dgm:pt modelId="{DAEB1065-4DF9-48A6-8965-7E8E485C98D5}" type="pres">
      <dgm:prSet presAssocID="{3E5CC052-87D3-4FBC-845A-F11EA9CF4677}" presName="bgRect" presStyleLbl="bgShp" presStyleIdx="2" presStyleCnt="7"/>
      <dgm:spPr/>
    </dgm:pt>
    <dgm:pt modelId="{B0C9DC78-AA3A-42D9-B1FD-966164F5CC49}" type="pres">
      <dgm:prSet presAssocID="{3E5CC052-87D3-4FBC-845A-F11EA9CF4677}"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Needle"/>
        </a:ext>
      </dgm:extLst>
    </dgm:pt>
    <dgm:pt modelId="{78F7C513-E9DA-4942-9E9C-38C412891FF8}" type="pres">
      <dgm:prSet presAssocID="{3E5CC052-87D3-4FBC-845A-F11EA9CF4677}" presName="spaceRect" presStyleCnt="0"/>
      <dgm:spPr/>
    </dgm:pt>
    <dgm:pt modelId="{1E566B31-9BAA-4AE3-BD1E-AF2025EA5FC8}" type="pres">
      <dgm:prSet presAssocID="{3E5CC052-87D3-4FBC-845A-F11EA9CF4677}" presName="parTx" presStyleLbl="revTx" presStyleIdx="2" presStyleCnt="7">
        <dgm:presLayoutVars>
          <dgm:chMax val="0"/>
          <dgm:chPref val="0"/>
        </dgm:presLayoutVars>
      </dgm:prSet>
      <dgm:spPr/>
    </dgm:pt>
    <dgm:pt modelId="{D09D28E5-623E-4936-9757-D8033DCE8AE1}" type="pres">
      <dgm:prSet presAssocID="{29EDEA5C-F51D-43B3-B5C5-62AE24312484}" presName="sibTrans" presStyleCnt="0"/>
      <dgm:spPr/>
    </dgm:pt>
    <dgm:pt modelId="{AEDA2D8D-15AE-48B8-AFEF-B1507FC3573E}" type="pres">
      <dgm:prSet presAssocID="{0EABEBE3-5546-4C66-9C8D-CBB143BC5B8E}" presName="compNode" presStyleCnt="0"/>
      <dgm:spPr/>
    </dgm:pt>
    <dgm:pt modelId="{1F923604-49B3-466E-ACC8-93FA29B77251}" type="pres">
      <dgm:prSet presAssocID="{0EABEBE3-5546-4C66-9C8D-CBB143BC5B8E}" presName="bgRect" presStyleLbl="bgShp" presStyleIdx="3" presStyleCnt="7"/>
      <dgm:spPr/>
    </dgm:pt>
    <dgm:pt modelId="{DBD83DB1-55FA-47EF-9EC8-E73B2DC0B966}" type="pres">
      <dgm:prSet presAssocID="{0EABEBE3-5546-4C66-9C8D-CBB143BC5B8E}"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lassroom"/>
        </a:ext>
      </dgm:extLst>
    </dgm:pt>
    <dgm:pt modelId="{4F219E6C-DA20-429B-B78C-C69D66E6955A}" type="pres">
      <dgm:prSet presAssocID="{0EABEBE3-5546-4C66-9C8D-CBB143BC5B8E}" presName="spaceRect" presStyleCnt="0"/>
      <dgm:spPr/>
    </dgm:pt>
    <dgm:pt modelId="{BFF3A01C-CD93-4C8B-B090-3DE855A36C60}" type="pres">
      <dgm:prSet presAssocID="{0EABEBE3-5546-4C66-9C8D-CBB143BC5B8E}" presName="parTx" presStyleLbl="revTx" presStyleIdx="3" presStyleCnt="7">
        <dgm:presLayoutVars>
          <dgm:chMax val="0"/>
          <dgm:chPref val="0"/>
        </dgm:presLayoutVars>
      </dgm:prSet>
      <dgm:spPr/>
    </dgm:pt>
    <dgm:pt modelId="{C13DA2EB-8A7C-43DF-B4F6-A82C65458F98}" type="pres">
      <dgm:prSet presAssocID="{10704DA3-B1AB-4331-B556-20C78A9606F5}" presName="sibTrans" presStyleCnt="0"/>
      <dgm:spPr/>
    </dgm:pt>
    <dgm:pt modelId="{DCBBE479-DC8E-4435-85ED-3CC290D2BCE8}" type="pres">
      <dgm:prSet presAssocID="{F931E176-F795-4288-ADC9-23501A99DFF0}" presName="compNode" presStyleCnt="0"/>
      <dgm:spPr/>
    </dgm:pt>
    <dgm:pt modelId="{85AC9BE1-1988-41B5-BE29-B4A7E621D0BD}" type="pres">
      <dgm:prSet presAssocID="{F931E176-F795-4288-ADC9-23501A99DFF0}" presName="bgRect" presStyleLbl="bgShp" presStyleIdx="4" presStyleCnt="7"/>
      <dgm:spPr/>
    </dgm:pt>
    <dgm:pt modelId="{1C6E70BA-6A2C-4696-A03D-742E76262498}" type="pres">
      <dgm:prSet presAssocID="{F931E176-F795-4288-ADC9-23501A99DFF0}"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Sustainability"/>
        </a:ext>
      </dgm:extLst>
    </dgm:pt>
    <dgm:pt modelId="{FA7ED727-D12C-4DB4-9E06-FA3F8B91BBB5}" type="pres">
      <dgm:prSet presAssocID="{F931E176-F795-4288-ADC9-23501A99DFF0}" presName="spaceRect" presStyleCnt="0"/>
      <dgm:spPr/>
    </dgm:pt>
    <dgm:pt modelId="{19049B90-03C9-41B4-A611-02A9D3974532}" type="pres">
      <dgm:prSet presAssocID="{F931E176-F795-4288-ADC9-23501A99DFF0}" presName="parTx" presStyleLbl="revTx" presStyleIdx="4" presStyleCnt="7">
        <dgm:presLayoutVars>
          <dgm:chMax val="0"/>
          <dgm:chPref val="0"/>
        </dgm:presLayoutVars>
      </dgm:prSet>
      <dgm:spPr/>
    </dgm:pt>
    <dgm:pt modelId="{67C606A3-ECDB-4AE2-9A82-5E559B41F602}" type="pres">
      <dgm:prSet presAssocID="{A610736A-4C40-4CDF-93A9-9F4DF56E65D2}" presName="sibTrans" presStyleCnt="0"/>
      <dgm:spPr/>
    </dgm:pt>
    <dgm:pt modelId="{11823F9E-2D4C-458F-810A-ED72082DDD11}" type="pres">
      <dgm:prSet presAssocID="{37AD74D1-8DA9-4FDF-A6A3-D2CE4D2CCFD9}" presName="compNode" presStyleCnt="0"/>
      <dgm:spPr/>
    </dgm:pt>
    <dgm:pt modelId="{1B01F901-D9E2-4CC9-96F9-32A304D7CCFE}" type="pres">
      <dgm:prSet presAssocID="{37AD74D1-8DA9-4FDF-A6A3-D2CE4D2CCFD9}" presName="bgRect" presStyleLbl="bgShp" presStyleIdx="5" presStyleCnt="7"/>
      <dgm:spPr/>
    </dgm:pt>
    <dgm:pt modelId="{04BDD1EA-1FF6-41B5-9206-97CC704A5DD9}" type="pres">
      <dgm:prSet presAssocID="{37AD74D1-8DA9-4FDF-A6A3-D2CE4D2CCFD9}"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ruck"/>
        </a:ext>
      </dgm:extLst>
    </dgm:pt>
    <dgm:pt modelId="{6AE4637B-9275-4299-B69E-8A917F93076B}" type="pres">
      <dgm:prSet presAssocID="{37AD74D1-8DA9-4FDF-A6A3-D2CE4D2CCFD9}" presName="spaceRect" presStyleCnt="0"/>
      <dgm:spPr/>
    </dgm:pt>
    <dgm:pt modelId="{5E71B556-89AF-480E-B3DC-09666FDE6583}" type="pres">
      <dgm:prSet presAssocID="{37AD74D1-8DA9-4FDF-A6A3-D2CE4D2CCFD9}" presName="parTx" presStyleLbl="revTx" presStyleIdx="5" presStyleCnt="7">
        <dgm:presLayoutVars>
          <dgm:chMax val="0"/>
          <dgm:chPref val="0"/>
        </dgm:presLayoutVars>
      </dgm:prSet>
      <dgm:spPr/>
    </dgm:pt>
    <dgm:pt modelId="{0B9A575A-B5BD-4657-9159-BB0CFD4DB4F6}" type="pres">
      <dgm:prSet presAssocID="{FC9748E0-8AAE-478A-B849-F40B37420D9D}" presName="sibTrans" presStyleCnt="0"/>
      <dgm:spPr/>
    </dgm:pt>
    <dgm:pt modelId="{5A2D405B-F032-46F7-8C27-FD030D0A9B6B}" type="pres">
      <dgm:prSet presAssocID="{A00F76FD-0AC4-427C-822F-69BC39146D3D}" presName="compNode" presStyleCnt="0"/>
      <dgm:spPr/>
    </dgm:pt>
    <dgm:pt modelId="{AE3B2CE6-C085-4B1E-A181-E7A33ABAEEF0}" type="pres">
      <dgm:prSet presAssocID="{A00F76FD-0AC4-427C-822F-69BC39146D3D}" presName="bgRect" presStyleLbl="bgShp" presStyleIdx="6" presStyleCnt="7"/>
      <dgm:spPr/>
    </dgm:pt>
    <dgm:pt modelId="{A3E79191-E02B-4A17-9A9B-914B486604EF}" type="pres">
      <dgm:prSet presAssocID="{A00F76FD-0AC4-427C-822F-69BC39146D3D}"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Upward trend"/>
        </a:ext>
      </dgm:extLst>
    </dgm:pt>
    <dgm:pt modelId="{D9DB27B8-AC48-4D7C-8DD6-6BB35EFF5C5D}" type="pres">
      <dgm:prSet presAssocID="{A00F76FD-0AC4-427C-822F-69BC39146D3D}" presName="spaceRect" presStyleCnt="0"/>
      <dgm:spPr/>
    </dgm:pt>
    <dgm:pt modelId="{21B22C71-9D3D-4246-BC21-55CC03153D6F}" type="pres">
      <dgm:prSet presAssocID="{A00F76FD-0AC4-427C-822F-69BC39146D3D}" presName="parTx" presStyleLbl="revTx" presStyleIdx="6" presStyleCnt="7">
        <dgm:presLayoutVars>
          <dgm:chMax val="0"/>
          <dgm:chPref val="0"/>
        </dgm:presLayoutVars>
      </dgm:prSet>
      <dgm:spPr/>
    </dgm:pt>
  </dgm:ptLst>
  <dgm:cxnLst>
    <dgm:cxn modelId="{6BF1011B-A06C-4F8C-B908-E7186BDC8F54}" srcId="{3603DEE8-CF0A-4B97-8786-74E3A74FA3C0}" destId="{6660EE9C-EFCA-4204-977B-3789755BA44C}" srcOrd="0" destOrd="0" parTransId="{2F4783B7-ED14-40BC-952A-9FF52309FEB5}" sibTransId="{C13D65AF-36F4-4B9C-9024-3AF95E0F6CBE}"/>
    <dgm:cxn modelId="{AAF60032-32E2-4CCD-A395-A97C7336CBAB}" srcId="{3603DEE8-CF0A-4B97-8786-74E3A74FA3C0}" destId="{0EABEBE3-5546-4C66-9C8D-CBB143BC5B8E}" srcOrd="3" destOrd="0" parTransId="{CEA282B1-4B6B-44AE-9D10-1A34B807D5C0}" sibTransId="{10704DA3-B1AB-4331-B556-20C78A9606F5}"/>
    <dgm:cxn modelId="{85A05566-B736-4DA7-B55A-C5CE5F6385C8}" srcId="{3603DEE8-CF0A-4B97-8786-74E3A74FA3C0}" destId="{8F4AED00-6FFC-4C1A-9FF0-2DD4B57BD766}" srcOrd="1" destOrd="0" parTransId="{88B88F0F-CF43-48F7-BA7F-358039A8C3BF}" sibTransId="{165510C8-9901-4312-8D8A-6A7634487684}"/>
    <dgm:cxn modelId="{FFEA8C6A-4478-4B31-AF5E-9A2A2F0E8637}" type="presOf" srcId="{8F4AED00-6FFC-4C1A-9FF0-2DD4B57BD766}" destId="{57A26CD2-FCC6-40A5-BEFB-D647C0F93BF1}" srcOrd="0" destOrd="0" presId="urn:microsoft.com/office/officeart/2018/2/layout/IconVerticalSolidList"/>
    <dgm:cxn modelId="{E7FF8284-EED9-4D7C-875A-6A243D67F3F9}" type="presOf" srcId="{3E5CC052-87D3-4FBC-845A-F11EA9CF4677}" destId="{1E566B31-9BAA-4AE3-BD1E-AF2025EA5FC8}" srcOrd="0" destOrd="0" presId="urn:microsoft.com/office/officeart/2018/2/layout/IconVerticalSolidList"/>
    <dgm:cxn modelId="{316D3F8D-4058-4150-A93C-2723BB7F1156}" srcId="{3603DEE8-CF0A-4B97-8786-74E3A74FA3C0}" destId="{37AD74D1-8DA9-4FDF-A6A3-D2CE4D2CCFD9}" srcOrd="5" destOrd="0" parTransId="{84D22ED9-44EA-4D64-98C3-C29CA9A754D7}" sibTransId="{FC9748E0-8AAE-478A-B849-F40B37420D9D}"/>
    <dgm:cxn modelId="{FC871DA2-95AF-4E65-902E-0ECEC25E704E}" type="presOf" srcId="{6660EE9C-EFCA-4204-977B-3789755BA44C}" destId="{1B73B12A-11A9-48C3-9773-F24B3169C1B1}" srcOrd="0" destOrd="0" presId="urn:microsoft.com/office/officeart/2018/2/layout/IconVerticalSolidList"/>
    <dgm:cxn modelId="{5ED979A8-746B-4064-88E9-1ABC016D6C64}" srcId="{3603DEE8-CF0A-4B97-8786-74E3A74FA3C0}" destId="{F931E176-F795-4288-ADC9-23501A99DFF0}" srcOrd="4" destOrd="0" parTransId="{FCAC92F6-CB2F-433F-B357-0D617C22F20C}" sibTransId="{A610736A-4C40-4CDF-93A9-9F4DF56E65D2}"/>
    <dgm:cxn modelId="{53609AB4-7B3A-4592-BA8F-37D513C978A5}" srcId="{3603DEE8-CF0A-4B97-8786-74E3A74FA3C0}" destId="{A00F76FD-0AC4-427C-822F-69BC39146D3D}" srcOrd="6" destOrd="0" parTransId="{46290561-764B-4659-B8DE-E3BD9D7BA88E}" sibTransId="{0C6FB968-125B-4016-B5E5-88BFB26AC192}"/>
    <dgm:cxn modelId="{95B022C6-8BAC-4700-9174-D65B66015260}" srcId="{3603DEE8-CF0A-4B97-8786-74E3A74FA3C0}" destId="{3E5CC052-87D3-4FBC-845A-F11EA9CF4677}" srcOrd="2" destOrd="0" parTransId="{9F170A9A-30C6-4C9A-BF93-59CD3BBC32FA}" sibTransId="{29EDEA5C-F51D-43B3-B5C5-62AE24312484}"/>
    <dgm:cxn modelId="{70141ACA-5BC9-4101-B1EB-7D5E8C9E0AC0}" type="presOf" srcId="{A00F76FD-0AC4-427C-822F-69BC39146D3D}" destId="{21B22C71-9D3D-4246-BC21-55CC03153D6F}" srcOrd="0" destOrd="0" presId="urn:microsoft.com/office/officeart/2018/2/layout/IconVerticalSolidList"/>
    <dgm:cxn modelId="{CCEBE3D0-BA85-4BF2-93CB-46025B3C9007}" type="presOf" srcId="{3603DEE8-CF0A-4B97-8786-74E3A74FA3C0}" destId="{71341ACA-7EB6-4AF4-897D-C114D37EB823}" srcOrd="0" destOrd="0" presId="urn:microsoft.com/office/officeart/2018/2/layout/IconVerticalSolidList"/>
    <dgm:cxn modelId="{A98591D1-4F62-4F00-9219-EB4CA25C6239}" type="presOf" srcId="{0EABEBE3-5546-4C66-9C8D-CBB143BC5B8E}" destId="{BFF3A01C-CD93-4C8B-B090-3DE855A36C60}" srcOrd="0" destOrd="0" presId="urn:microsoft.com/office/officeart/2018/2/layout/IconVerticalSolidList"/>
    <dgm:cxn modelId="{980901D9-C366-4699-830D-BFA3F0729D31}" type="presOf" srcId="{37AD74D1-8DA9-4FDF-A6A3-D2CE4D2CCFD9}" destId="{5E71B556-89AF-480E-B3DC-09666FDE6583}" srcOrd="0" destOrd="0" presId="urn:microsoft.com/office/officeart/2018/2/layout/IconVerticalSolidList"/>
    <dgm:cxn modelId="{E4A915EF-B4D8-45AD-81DA-85AD93A90793}" type="presOf" srcId="{F931E176-F795-4288-ADC9-23501A99DFF0}" destId="{19049B90-03C9-41B4-A611-02A9D3974532}" srcOrd="0" destOrd="0" presId="urn:microsoft.com/office/officeart/2018/2/layout/IconVerticalSolidList"/>
    <dgm:cxn modelId="{FE4CEB27-F900-4646-87A5-7455E7A33ABD}" type="presParOf" srcId="{71341ACA-7EB6-4AF4-897D-C114D37EB823}" destId="{76609D2E-5D80-40EB-BDC5-6B3E8162828D}" srcOrd="0" destOrd="0" presId="urn:microsoft.com/office/officeart/2018/2/layout/IconVerticalSolidList"/>
    <dgm:cxn modelId="{81EA0895-825F-4ABE-9D65-8E1123644E8B}" type="presParOf" srcId="{76609D2E-5D80-40EB-BDC5-6B3E8162828D}" destId="{472DCCF6-4E3E-4F5F-8658-94CF347262DD}" srcOrd="0" destOrd="0" presId="urn:microsoft.com/office/officeart/2018/2/layout/IconVerticalSolidList"/>
    <dgm:cxn modelId="{DF6ACC2D-F7B1-44FC-9764-E06DBD55D849}" type="presParOf" srcId="{76609D2E-5D80-40EB-BDC5-6B3E8162828D}" destId="{84F9B297-4449-4C2C-A10E-F8B27DC51341}" srcOrd="1" destOrd="0" presId="urn:microsoft.com/office/officeart/2018/2/layout/IconVerticalSolidList"/>
    <dgm:cxn modelId="{8CC3BC05-4A17-4A02-B5BB-7C5E49A9CE8F}" type="presParOf" srcId="{76609D2E-5D80-40EB-BDC5-6B3E8162828D}" destId="{8DBE701F-FEED-4922-BCE2-7BCC8AA4DAE6}" srcOrd="2" destOrd="0" presId="urn:microsoft.com/office/officeart/2018/2/layout/IconVerticalSolidList"/>
    <dgm:cxn modelId="{29A37569-CFF2-44E2-8B42-2B54DB1DEA89}" type="presParOf" srcId="{76609D2E-5D80-40EB-BDC5-6B3E8162828D}" destId="{1B73B12A-11A9-48C3-9773-F24B3169C1B1}" srcOrd="3" destOrd="0" presId="urn:microsoft.com/office/officeart/2018/2/layout/IconVerticalSolidList"/>
    <dgm:cxn modelId="{93BB1397-07E0-4173-A479-C596B751CA55}" type="presParOf" srcId="{71341ACA-7EB6-4AF4-897D-C114D37EB823}" destId="{2DA97872-8872-4593-9F39-5CADDF881D03}" srcOrd="1" destOrd="0" presId="urn:microsoft.com/office/officeart/2018/2/layout/IconVerticalSolidList"/>
    <dgm:cxn modelId="{967F256E-8E40-4B8C-9F1D-1FDBE031163B}" type="presParOf" srcId="{71341ACA-7EB6-4AF4-897D-C114D37EB823}" destId="{5493B988-96E9-4159-AF55-CB111C77904E}" srcOrd="2" destOrd="0" presId="urn:microsoft.com/office/officeart/2018/2/layout/IconVerticalSolidList"/>
    <dgm:cxn modelId="{EC4D0BE8-CE7E-4245-80B2-33341A180ED5}" type="presParOf" srcId="{5493B988-96E9-4159-AF55-CB111C77904E}" destId="{5B5DF454-B953-4EF2-BCBB-2A73AF78AF3B}" srcOrd="0" destOrd="0" presId="urn:microsoft.com/office/officeart/2018/2/layout/IconVerticalSolidList"/>
    <dgm:cxn modelId="{9C0CF524-0338-4F20-BF37-65B5D165FA9D}" type="presParOf" srcId="{5493B988-96E9-4159-AF55-CB111C77904E}" destId="{701F11D0-5221-45E9-B34F-412B747BCCF9}" srcOrd="1" destOrd="0" presId="urn:microsoft.com/office/officeart/2018/2/layout/IconVerticalSolidList"/>
    <dgm:cxn modelId="{52F60A1E-1C0F-480B-9C31-C000156FBD05}" type="presParOf" srcId="{5493B988-96E9-4159-AF55-CB111C77904E}" destId="{BBCC94F0-4D7B-4EC4-9034-2D49F49D604C}" srcOrd="2" destOrd="0" presId="urn:microsoft.com/office/officeart/2018/2/layout/IconVerticalSolidList"/>
    <dgm:cxn modelId="{DCCDB407-CEB8-4124-A577-2846261D5A5B}" type="presParOf" srcId="{5493B988-96E9-4159-AF55-CB111C77904E}" destId="{57A26CD2-FCC6-40A5-BEFB-D647C0F93BF1}" srcOrd="3" destOrd="0" presId="urn:microsoft.com/office/officeart/2018/2/layout/IconVerticalSolidList"/>
    <dgm:cxn modelId="{FCF2DF96-8E5E-454E-AC19-216F404A9762}" type="presParOf" srcId="{71341ACA-7EB6-4AF4-897D-C114D37EB823}" destId="{89E9E490-1672-40E7-A702-D421C162399D}" srcOrd="3" destOrd="0" presId="urn:microsoft.com/office/officeart/2018/2/layout/IconVerticalSolidList"/>
    <dgm:cxn modelId="{1093CE53-4999-4668-9E11-DE2F514B4C22}" type="presParOf" srcId="{71341ACA-7EB6-4AF4-897D-C114D37EB823}" destId="{321B7D09-ACC8-4924-9239-F770BA9A199F}" srcOrd="4" destOrd="0" presId="urn:microsoft.com/office/officeart/2018/2/layout/IconVerticalSolidList"/>
    <dgm:cxn modelId="{B6BEA86B-99DC-43B4-8FA0-CC201F57F36A}" type="presParOf" srcId="{321B7D09-ACC8-4924-9239-F770BA9A199F}" destId="{DAEB1065-4DF9-48A6-8965-7E8E485C98D5}" srcOrd="0" destOrd="0" presId="urn:microsoft.com/office/officeart/2018/2/layout/IconVerticalSolidList"/>
    <dgm:cxn modelId="{A7CBB088-A9D4-4C33-8286-736B076F860B}" type="presParOf" srcId="{321B7D09-ACC8-4924-9239-F770BA9A199F}" destId="{B0C9DC78-AA3A-42D9-B1FD-966164F5CC49}" srcOrd="1" destOrd="0" presId="urn:microsoft.com/office/officeart/2018/2/layout/IconVerticalSolidList"/>
    <dgm:cxn modelId="{8AE885FC-7171-4616-A9F4-8E788AFBA5EE}" type="presParOf" srcId="{321B7D09-ACC8-4924-9239-F770BA9A199F}" destId="{78F7C513-E9DA-4942-9E9C-38C412891FF8}" srcOrd="2" destOrd="0" presId="urn:microsoft.com/office/officeart/2018/2/layout/IconVerticalSolidList"/>
    <dgm:cxn modelId="{E58BC779-61C3-4496-A245-E91E7C39061B}" type="presParOf" srcId="{321B7D09-ACC8-4924-9239-F770BA9A199F}" destId="{1E566B31-9BAA-4AE3-BD1E-AF2025EA5FC8}" srcOrd="3" destOrd="0" presId="urn:microsoft.com/office/officeart/2018/2/layout/IconVerticalSolidList"/>
    <dgm:cxn modelId="{D572EFDB-1500-42B9-B2C9-0075243BDE50}" type="presParOf" srcId="{71341ACA-7EB6-4AF4-897D-C114D37EB823}" destId="{D09D28E5-623E-4936-9757-D8033DCE8AE1}" srcOrd="5" destOrd="0" presId="urn:microsoft.com/office/officeart/2018/2/layout/IconVerticalSolidList"/>
    <dgm:cxn modelId="{B56F1C5A-BF02-4BF1-BB6F-6DB9A392F7C9}" type="presParOf" srcId="{71341ACA-7EB6-4AF4-897D-C114D37EB823}" destId="{AEDA2D8D-15AE-48B8-AFEF-B1507FC3573E}" srcOrd="6" destOrd="0" presId="urn:microsoft.com/office/officeart/2018/2/layout/IconVerticalSolidList"/>
    <dgm:cxn modelId="{BD7CB147-5226-49F8-806C-AB220781A621}" type="presParOf" srcId="{AEDA2D8D-15AE-48B8-AFEF-B1507FC3573E}" destId="{1F923604-49B3-466E-ACC8-93FA29B77251}" srcOrd="0" destOrd="0" presId="urn:microsoft.com/office/officeart/2018/2/layout/IconVerticalSolidList"/>
    <dgm:cxn modelId="{20FA47F9-32B4-4871-8F8C-D804803488D3}" type="presParOf" srcId="{AEDA2D8D-15AE-48B8-AFEF-B1507FC3573E}" destId="{DBD83DB1-55FA-47EF-9EC8-E73B2DC0B966}" srcOrd="1" destOrd="0" presId="urn:microsoft.com/office/officeart/2018/2/layout/IconVerticalSolidList"/>
    <dgm:cxn modelId="{D8B50892-9285-45E0-BADB-FA9055640609}" type="presParOf" srcId="{AEDA2D8D-15AE-48B8-AFEF-B1507FC3573E}" destId="{4F219E6C-DA20-429B-B78C-C69D66E6955A}" srcOrd="2" destOrd="0" presId="urn:microsoft.com/office/officeart/2018/2/layout/IconVerticalSolidList"/>
    <dgm:cxn modelId="{4643FB6C-FCBE-4166-A05A-DF2B1C586F5E}" type="presParOf" srcId="{AEDA2D8D-15AE-48B8-AFEF-B1507FC3573E}" destId="{BFF3A01C-CD93-4C8B-B090-3DE855A36C60}" srcOrd="3" destOrd="0" presId="urn:microsoft.com/office/officeart/2018/2/layout/IconVerticalSolidList"/>
    <dgm:cxn modelId="{3CCE59E3-A8A7-48F8-9729-7301DDF7C7EF}" type="presParOf" srcId="{71341ACA-7EB6-4AF4-897D-C114D37EB823}" destId="{C13DA2EB-8A7C-43DF-B4F6-A82C65458F98}" srcOrd="7" destOrd="0" presId="urn:microsoft.com/office/officeart/2018/2/layout/IconVerticalSolidList"/>
    <dgm:cxn modelId="{A7378998-FF41-405F-920D-CCB9364EFCCC}" type="presParOf" srcId="{71341ACA-7EB6-4AF4-897D-C114D37EB823}" destId="{DCBBE479-DC8E-4435-85ED-3CC290D2BCE8}" srcOrd="8" destOrd="0" presId="urn:microsoft.com/office/officeart/2018/2/layout/IconVerticalSolidList"/>
    <dgm:cxn modelId="{F1976E90-F7F7-47AF-8B22-9617AABF7253}" type="presParOf" srcId="{DCBBE479-DC8E-4435-85ED-3CC290D2BCE8}" destId="{85AC9BE1-1988-41B5-BE29-B4A7E621D0BD}" srcOrd="0" destOrd="0" presId="urn:microsoft.com/office/officeart/2018/2/layout/IconVerticalSolidList"/>
    <dgm:cxn modelId="{786233D8-7B19-4151-A81C-C886377ED20E}" type="presParOf" srcId="{DCBBE479-DC8E-4435-85ED-3CC290D2BCE8}" destId="{1C6E70BA-6A2C-4696-A03D-742E76262498}" srcOrd="1" destOrd="0" presId="urn:microsoft.com/office/officeart/2018/2/layout/IconVerticalSolidList"/>
    <dgm:cxn modelId="{6147D774-6647-416D-AD68-65438944DAAB}" type="presParOf" srcId="{DCBBE479-DC8E-4435-85ED-3CC290D2BCE8}" destId="{FA7ED727-D12C-4DB4-9E06-FA3F8B91BBB5}" srcOrd="2" destOrd="0" presId="urn:microsoft.com/office/officeart/2018/2/layout/IconVerticalSolidList"/>
    <dgm:cxn modelId="{3996D46B-5ABA-4DF7-A42C-1BA6F75E4D28}" type="presParOf" srcId="{DCBBE479-DC8E-4435-85ED-3CC290D2BCE8}" destId="{19049B90-03C9-41B4-A611-02A9D3974532}" srcOrd="3" destOrd="0" presId="urn:microsoft.com/office/officeart/2018/2/layout/IconVerticalSolidList"/>
    <dgm:cxn modelId="{37B4D2D9-81CF-4456-807F-DF0F4A4E0399}" type="presParOf" srcId="{71341ACA-7EB6-4AF4-897D-C114D37EB823}" destId="{67C606A3-ECDB-4AE2-9A82-5E559B41F602}" srcOrd="9" destOrd="0" presId="urn:microsoft.com/office/officeart/2018/2/layout/IconVerticalSolidList"/>
    <dgm:cxn modelId="{B78817BA-CE76-4844-82DA-94501173C746}" type="presParOf" srcId="{71341ACA-7EB6-4AF4-897D-C114D37EB823}" destId="{11823F9E-2D4C-458F-810A-ED72082DDD11}" srcOrd="10" destOrd="0" presId="urn:microsoft.com/office/officeart/2018/2/layout/IconVerticalSolidList"/>
    <dgm:cxn modelId="{EDD6E8F7-CC25-488D-91BE-B7FF68E2E214}" type="presParOf" srcId="{11823F9E-2D4C-458F-810A-ED72082DDD11}" destId="{1B01F901-D9E2-4CC9-96F9-32A304D7CCFE}" srcOrd="0" destOrd="0" presId="urn:microsoft.com/office/officeart/2018/2/layout/IconVerticalSolidList"/>
    <dgm:cxn modelId="{A8413417-D533-4211-8C6D-BB2CBA5BF056}" type="presParOf" srcId="{11823F9E-2D4C-458F-810A-ED72082DDD11}" destId="{04BDD1EA-1FF6-41B5-9206-97CC704A5DD9}" srcOrd="1" destOrd="0" presId="urn:microsoft.com/office/officeart/2018/2/layout/IconVerticalSolidList"/>
    <dgm:cxn modelId="{1E1F2424-A821-4F94-A326-45FFCABE4505}" type="presParOf" srcId="{11823F9E-2D4C-458F-810A-ED72082DDD11}" destId="{6AE4637B-9275-4299-B69E-8A917F93076B}" srcOrd="2" destOrd="0" presId="urn:microsoft.com/office/officeart/2018/2/layout/IconVerticalSolidList"/>
    <dgm:cxn modelId="{18B5DD89-5B3E-404B-980D-302C81518586}" type="presParOf" srcId="{11823F9E-2D4C-458F-810A-ED72082DDD11}" destId="{5E71B556-89AF-480E-B3DC-09666FDE6583}" srcOrd="3" destOrd="0" presId="urn:microsoft.com/office/officeart/2018/2/layout/IconVerticalSolidList"/>
    <dgm:cxn modelId="{CCCE17BA-0E73-40AC-8337-6C11F5F383FB}" type="presParOf" srcId="{71341ACA-7EB6-4AF4-897D-C114D37EB823}" destId="{0B9A575A-B5BD-4657-9159-BB0CFD4DB4F6}" srcOrd="11" destOrd="0" presId="urn:microsoft.com/office/officeart/2018/2/layout/IconVerticalSolidList"/>
    <dgm:cxn modelId="{98394419-0E8D-4D27-AE99-933D90BF1EE5}" type="presParOf" srcId="{71341ACA-7EB6-4AF4-897D-C114D37EB823}" destId="{5A2D405B-F032-46F7-8C27-FD030D0A9B6B}" srcOrd="12" destOrd="0" presId="urn:microsoft.com/office/officeart/2018/2/layout/IconVerticalSolidList"/>
    <dgm:cxn modelId="{9B05E81F-7C71-4075-AF14-5960BB377B7D}" type="presParOf" srcId="{5A2D405B-F032-46F7-8C27-FD030D0A9B6B}" destId="{AE3B2CE6-C085-4B1E-A181-E7A33ABAEEF0}" srcOrd="0" destOrd="0" presId="urn:microsoft.com/office/officeart/2018/2/layout/IconVerticalSolidList"/>
    <dgm:cxn modelId="{62E750E6-3FC2-4F98-A13D-4E2EB1E9EFF6}" type="presParOf" srcId="{5A2D405B-F032-46F7-8C27-FD030D0A9B6B}" destId="{A3E79191-E02B-4A17-9A9B-914B486604EF}" srcOrd="1" destOrd="0" presId="urn:microsoft.com/office/officeart/2018/2/layout/IconVerticalSolidList"/>
    <dgm:cxn modelId="{773DED06-0CD3-42C1-9E33-7D7CA684F180}" type="presParOf" srcId="{5A2D405B-F032-46F7-8C27-FD030D0A9B6B}" destId="{D9DB27B8-AC48-4D7C-8DD6-6BB35EFF5C5D}" srcOrd="2" destOrd="0" presId="urn:microsoft.com/office/officeart/2018/2/layout/IconVerticalSolidList"/>
    <dgm:cxn modelId="{DF3F8036-1EB3-414E-A7F0-BB891AE13FCA}" type="presParOf" srcId="{5A2D405B-F032-46F7-8C27-FD030D0A9B6B}" destId="{21B22C71-9D3D-4246-BC21-55CC03153D6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2DCCF6-4E3E-4F5F-8658-94CF347262DD}">
      <dsp:nvSpPr>
        <dsp:cNvPr id="0" name=""/>
        <dsp:cNvSpPr/>
      </dsp:nvSpPr>
      <dsp:spPr>
        <a:xfrm>
          <a:off x="0" y="345"/>
          <a:ext cx="10213200" cy="4752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F9B297-4449-4C2C-A10E-F8B27DC51341}">
      <dsp:nvSpPr>
        <dsp:cNvPr id="0" name=""/>
        <dsp:cNvSpPr/>
      </dsp:nvSpPr>
      <dsp:spPr>
        <a:xfrm>
          <a:off x="143758" y="107273"/>
          <a:ext cx="261379" cy="26137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73B12A-11A9-48C3-9773-F24B3169C1B1}">
      <dsp:nvSpPr>
        <dsp:cNvPr id="0" name=""/>
        <dsp:cNvSpPr/>
      </dsp:nvSpPr>
      <dsp:spPr>
        <a:xfrm>
          <a:off x="548896" y="345"/>
          <a:ext cx="9664303" cy="4752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296" tIns="50296" rIns="50296" bIns="50296" numCol="1" spcCol="1270" anchor="ctr" anchorCtr="0">
          <a:noAutofit/>
        </a:bodyPr>
        <a:lstStyle/>
        <a:p>
          <a:pPr marL="0" lvl="0" indent="0" algn="l" defTabSz="711200">
            <a:lnSpc>
              <a:spcPct val="100000"/>
            </a:lnSpc>
            <a:spcBef>
              <a:spcPct val="0"/>
            </a:spcBef>
            <a:spcAft>
              <a:spcPct val="35000"/>
            </a:spcAft>
            <a:buNone/>
          </a:pPr>
          <a:r>
            <a:rPr lang="en-ZM" sz="1600" b="1" kern="1200"/>
            <a:t>Breed Purity &amp; Quality</a:t>
          </a:r>
          <a:r>
            <a:rPr lang="en-ZM" sz="1600" kern="1200"/>
            <a:t> — Carefully selected and maintained genetics for optimal meat yield and taste</a:t>
          </a:r>
          <a:endParaRPr lang="en-US" sz="1600" kern="1200"/>
        </a:p>
      </dsp:txBody>
      <dsp:txXfrm>
        <a:off x="548896" y="345"/>
        <a:ext cx="9664303" cy="475235"/>
      </dsp:txXfrm>
    </dsp:sp>
    <dsp:sp modelId="{5B5DF454-B953-4EF2-BCBB-2A73AF78AF3B}">
      <dsp:nvSpPr>
        <dsp:cNvPr id="0" name=""/>
        <dsp:cNvSpPr/>
      </dsp:nvSpPr>
      <dsp:spPr>
        <a:xfrm>
          <a:off x="0" y="594389"/>
          <a:ext cx="10213200" cy="4752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1F11D0-5221-45E9-B34F-412B747BCCF9}">
      <dsp:nvSpPr>
        <dsp:cNvPr id="0" name=""/>
        <dsp:cNvSpPr/>
      </dsp:nvSpPr>
      <dsp:spPr>
        <a:xfrm>
          <a:off x="143758" y="701317"/>
          <a:ext cx="261379" cy="26137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7A26CD2-FCC6-40A5-BEFB-D647C0F93BF1}">
      <dsp:nvSpPr>
        <dsp:cNvPr id="0" name=""/>
        <dsp:cNvSpPr/>
      </dsp:nvSpPr>
      <dsp:spPr>
        <a:xfrm>
          <a:off x="548896" y="594389"/>
          <a:ext cx="9664303" cy="4752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296" tIns="50296" rIns="50296" bIns="50296" numCol="1" spcCol="1270" anchor="ctr" anchorCtr="0">
          <a:noAutofit/>
        </a:bodyPr>
        <a:lstStyle/>
        <a:p>
          <a:pPr marL="0" lvl="0" indent="0" algn="l" defTabSz="711200">
            <a:lnSpc>
              <a:spcPct val="100000"/>
            </a:lnSpc>
            <a:spcBef>
              <a:spcPct val="0"/>
            </a:spcBef>
            <a:spcAft>
              <a:spcPct val="35000"/>
            </a:spcAft>
            <a:buNone/>
          </a:pPr>
          <a:r>
            <a:rPr lang="en-ZM" sz="1600" b="1" kern="1200"/>
            <a:t>100% Natural Meat</a:t>
          </a:r>
          <a:r>
            <a:rPr lang="en-ZM" sz="1600" kern="1200"/>
            <a:t> — No hormones or unnecessary antibiotics — naturally raised birds</a:t>
          </a:r>
          <a:endParaRPr lang="en-US" sz="1600" kern="1200"/>
        </a:p>
      </dsp:txBody>
      <dsp:txXfrm>
        <a:off x="548896" y="594389"/>
        <a:ext cx="9664303" cy="475235"/>
      </dsp:txXfrm>
    </dsp:sp>
    <dsp:sp modelId="{DAEB1065-4DF9-48A6-8965-7E8E485C98D5}">
      <dsp:nvSpPr>
        <dsp:cNvPr id="0" name=""/>
        <dsp:cNvSpPr/>
      </dsp:nvSpPr>
      <dsp:spPr>
        <a:xfrm>
          <a:off x="0" y="1188433"/>
          <a:ext cx="10213200" cy="4752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C9DC78-AA3A-42D9-B1FD-966164F5CC49}">
      <dsp:nvSpPr>
        <dsp:cNvPr id="0" name=""/>
        <dsp:cNvSpPr/>
      </dsp:nvSpPr>
      <dsp:spPr>
        <a:xfrm>
          <a:off x="143758" y="1295361"/>
          <a:ext cx="261379" cy="26137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E566B31-9BAA-4AE3-BD1E-AF2025EA5FC8}">
      <dsp:nvSpPr>
        <dsp:cNvPr id="0" name=""/>
        <dsp:cNvSpPr/>
      </dsp:nvSpPr>
      <dsp:spPr>
        <a:xfrm>
          <a:off x="548896" y="1188433"/>
          <a:ext cx="9664303" cy="4752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296" tIns="50296" rIns="50296" bIns="50296" numCol="1" spcCol="1270" anchor="ctr" anchorCtr="0">
          <a:noAutofit/>
        </a:bodyPr>
        <a:lstStyle/>
        <a:p>
          <a:pPr marL="0" lvl="0" indent="0" algn="l" defTabSz="711200">
            <a:lnSpc>
              <a:spcPct val="100000"/>
            </a:lnSpc>
            <a:spcBef>
              <a:spcPct val="0"/>
            </a:spcBef>
            <a:spcAft>
              <a:spcPct val="35000"/>
            </a:spcAft>
            <a:buNone/>
          </a:pPr>
          <a:r>
            <a:rPr lang="en-ZM" sz="1600" b="1" kern="1200"/>
            <a:t>Health Guarantee</a:t>
          </a:r>
          <a:r>
            <a:rPr lang="en-ZM" sz="1600" kern="1200"/>
            <a:t> — Strict biosecurity, vaccination, and disease prevention protocols</a:t>
          </a:r>
          <a:endParaRPr lang="en-US" sz="1600" kern="1200"/>
        </a:p>
      </dsp:txBody>
      <dsp:txXfrm>
        <a:off x="548896" y="1188433"/>
        <a:ext cx="9664303" cy="475235"/>
      </dsp:txXfrm>
    </dsp:sp>
    <dsp:sp modelId="{1F923604-49B3-466E-ACC8-93FA29B77251}">
      <dsp:nvSpPr>
        <dsp:cNvPr id="0" name=""/>
        <dsp:cNvSpPr/>
      </dsp:nvSpPr>
      <dsp:spPr>
        <a:xfrm>
          <a:off x="0" y="1782477"/>
          <a:ext cx="10213200" cy="4752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D83DB1-55FA-47EF-9EC8-E73B2DC0B966}">
      <dsp:nvSpPr>
        <dsp:cNvPr id="0" name=""/>
        <dsp:cNvSpPr/>
      </dsp:nvSpPr>
      <dsp:spPr>
        <a:xfrm>
          <a:off x="143758" y="1889405"/>
          <a:ext cx="261379" cy="26137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F3A01C-CD93-4C8B-B090-3DE855A36C60}">
      <dsp:nvSpPr>
        <dsp:cNvPr id="0" name=""/>
        <dsp:cNvSpPr/>
      </dsp:nvSpPr>
      <dsp:spPr>
        <a:xfrm>
          <a:off x="548896" y="1782477"/>
          <a:ext cx="9664303" cy="4752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296" tIns="50296" rIns="50296" bIns="50296" numCol="1" spcCol="1270" anchor="ctr" anchorCtr="0">
          <a:noAutofit/>
        </a:bodyPr>
        <a:lstStyle/>
        <a:p>
          <a:pPr marL="0" lvl="0" indent="0" algn="l" defTabSz="711200">
            <a:lnSpc>
              <a:spcPct val="100000"/>
            </a:lnSpc>
            <a:spcBef>
              <a:spcPct val="0"/>
            </a:spcBef>
            <a:spcAft>
              <a:spcPct val="35000"/>
            </a:spcAft>
            <a:buNone/>
          </a:pPr>
          <a:r>
            <a:rPr lang="en-ZM" sz="1600" b="1" kern="1200"/>
            <a:t>Expert Advice</a:t>
          </a:r>
          <a:r>
            <a:rPr lang="en-ZM" sz="1600" kern="1200"/>
            <a:t> — Detailed guidance tailored to each breed (housing, feeding, health management)</a:t>
          </a:r>
          <a:endParaRPr lang="en-US" sz="1600" kern="1200"/>
        </a:p>
      </dsp:txBody>
      <dsp:txXfrm>
        <a:off x="548896" y="1782477"/>
        <a:ext cx="9664303" cy="475235"/>
      </dsp:txXfrm>
    </dsp:sp>
    <dsp:sp modelId="{85AC9BE1-1988-41B5-BE29-B4A7E621D0BD}">
      <dsp:nvSpPr>
        <dsp:cNvPr id="0" name=""/>
        <dsp:cNvSpPr/>
      </dsp:nvSpPr>
      <dsp:spPr>
        <a:xfrm>
          <a:off x="0" y="2376522"/>
          <a:ext cx="10213200" cy="4752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6E70BA-6A2C-4696-A03D-742E76262498}">
      <dsp:nvSpPr>
        <dsp:cNvPr id="0" name=""/>
        <dsp:cNvSpPr/>
      </dsp:nvSpPr>
      <dsp:spPr>
        <a:xfrm>
          <a:off x="143758" y="2483449"/>
          <a:ext cx="261379" cy="26137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049B90-03C9-41B4-A611-02A9D3974532}">
      <dsp:nvSpPr>
        <dsp:cNvPr id="0" name=""/>
        <dsp:cNvSpPr/>
      </dsp:nvSpPr>
      <dsp:spPr>
        <a:xfrm>
          <a:off x="548896" y="2376522"/>
          <a:ext cx="9664303" cy="4752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296" tIns="50296" rIns="50296" bIns="50296" numCol="1" spcCol="1270" anchor="ctr" anchorCtr="0">
          <a:noAutofit/>
        </a:bodyPr>
        <a:lstStyle/>
        <a:p>
          <a:pPr marL="0" lvl="0" indent="0" algn="l" defTabSz="711200">
            <a:lnSpc>
              <a:spcPct val="100000"/>
            </a:lnSpc>
            <a:spcBef>
              <a:spcPct val="0"/>
            </a:spcBef>
            <a:spcAft>
              <a:spcPct val="35000"/>
            </a:spcAft>
            <a:buNone/>
          </a:pPr>
          <a:r>
            <a:rPr lang="en-ZM" sz="1600" b="1" kern="1200"/>
            <a:t>Sustainability</a:t>
          </a:r>
          <a:r>
            <a:rPr lang="en-ZM" sz="1600" kern="1200"/>
            <a:t> — Emphasis on free-range and semi-intensive systems with eco-friendly practices</a:t>
          </a:r>
          <a:endParaRPr lang="en-US" sz="1600" kern="1200"/>
        </a:p>
      </dsp:txBody>
      <dsp:txXfrm>
        <a:off x="548896" y="2376522"/>
        <a:ext cx="9664303" cy="475235"/>
      </dsp:txXfrm>
    </dsp:sp>
    <dsp:sp modelId="{1B01F901-D9E2-4CC9-96F9-32A304D7CCFE}">
      <dsp:nvSpPr>
        <dsp:cNvPr id="0" name=""/>
        <dsp:cNvSpPr/>
      </dsp:nvSpPr>
      <dsp:spPr>
        <a:xfrm>
          <a:off x="0" y="2970566"/>
          <a:ext cx="10213200" cy="4752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BDD1EA-1FF6-41B5-9206-97CC704A5DD9}">
      <dsp:nvSpPr>
        <dsp:cNvPr id="0" name=""/>
        <dsp:cNvSpPr/>
      </dsp:nvSpPr>
      <dsp:spPr>
        <a:xfrm>
          <a:off x="143758" y="3077494"/>
          <a:ext cx="261379" cy="26137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71B556-89AF-480E-B3DC-09666FDE6583}">
      <dsp:nvSpPr>
        <dsp:cNvPr id="0" name=""/>
        <dsp:cNvSpPr/>
      </dsp:nvSpPr>
      <dsp:spPr>
        <a:xfrm>
          <a:off x="548896" y="2970566"/>
          <a:ext cx="9664303" cy="4752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296" tIns="50296" rIns="50296" bIns="50296" numCol="1" spcCol="1270" anchor="ctr" anchorCtr="0">
          <a:noAutofit/>
        </a:bodyPr>
        <a:lstStyle/>
        <a:p>
          <a:pPr marL="0" lvl="0" indent="0" algn="l" defTabSz="711200">
            <a:lnSpc>
              <a:spcPct val="100000"/>
            </a:lnSpc>
            <a:spcBef>
              <a:spcPct val="0"/>
            </a:spcBef>
            <a:spcAft>
              <a:spcPct val="35000"/>
            </a:spcAft>
            <a:buNone/>
          </a:pPr>
          <a:r>
            <a:rPr lang="en-ZM" sz="1600" b="1" kern="1200"/>
            <a:t>Reliable Supply</a:t>
          </a:r>
          <a:r>
            <a:rPr lang="en-ZM" sz="1600" kern="1200"/>
            <a:t> — Consistent availability from our hub in Chililabombwe to butcheries and markets</a:t>
          </a:r>
          <a:endParaRPr lang="en-US" sz="1600" kern="1200"/>
        </a:p>
      </dsp:txBody>
      <dsp:txXfrm>
        <a:off x="548896" y="2970566"/>
        <a:ext cx="9664303" cy="475235"/>
      </dsp:txXfrm>
    </dsp:sp>
    <dsp:sp modelId="{AE3B2CE6-C085-4B1E-A181-E7A33ABAEEF0}">
      <dsp:nvSpPr>
        <dsp:cNvPr id="0" name=""/>
        <dsp:cNvSpPr/>
      </dsp:nvSpPr>
      <dsp:spPr>
        <a:xfrm>
          <a:off x="0" y="3564610"/>
          <a:ext cx="10213200" cy="4752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E79191-E02B-4A17-9A9B-914B486604EF}">
      <dsp:nvSpPr>
        <dsp:cNvPr id="0" name=""/>
        <dsp:cNvSpPr/>
      </dsp:nvSpPr>
      <dsp:spPr>
        <a:xfrm>
          <a:off x="143758" y="3671538"/>
          <a:ext cx="261379" cy="26137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B22C71-9D3D-4246-BC21-55CC03153D6F}">
      <dsp:nvSpPr>
        <dsp:cNvPr id="0" name=""/>
        <dsp:cNvSpPr/>
      </dsp:nvSpPr>
      <dsp:spPr>
        <a:xfrm>
          <a:off x="548896" y="3564610"/>
          <a:ext cx="9664303" cy="4752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296" tIns="50296" rIns="50296" bIns="50296" numCol="1" spcCol="1270" anchor="ctr" anchorCtr="0">
          <a:noAutofit/>
        </a:bodyPr>
        <a:lstStyle/>
        <a:p>
          <a:pPr marL="0" lvl="0" indent="0" algn="l" defTabSz="711200">
            <a:lnSpc>
              <a:spcPct val="100000"/>
            </a:lnSpc>
            <a:spcBef>
              <a:spcPct val="0"/>
            </a:spcBef>
            <a:spcAft>
              <a:spcPct val="35000"/>
            </a:spcAft>
            <a:buNone/>
          </a:pPr>
          <a:r>
            <a:rPr lang="en-ZM" sz="1600" b="1" kern="1200"/>
            <a:t>Our Portfolio</a:t>
          </a:r>
          <a:endParaRPr lang="en-US" sz="1600" kern="1200"/>
        </a:p>
      </dsp:txBody>
      <dsp:txXfrm>
        <a:off x="548896" y="3564610"/>
        <a:ext cx="9664303" cy="4752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1826-1B3E-4E2E-8D6C-93BCEAA3D6C6}"/>
              </a:ext>
            </a:extLst>
          </p:cNvPr>
          <p:cNvSpPr>
            <a:spLocks noGrp="1"/>
          </p:cNvSpPr>
          <p:nvPr>
            <p:ph type="ctrTitle"/>
          </p:nvPr>
        </p:nvSpPr>
        <p:spPr>
          <a:xfrm>
            <a:off x="2107200" y="1096965"/>
            <a:ext cx="7977600" cy="2085696"/>
          </a:xfrm>
        </p:spPr>
        <p:txBody>
          <a:bodyPr anchor="b">
            <a:norm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AB5F0CE-1714-4650-9690-5676C06349A0}"/>
              </a:ext>
            </a:extLst>
          </p:cNvPr>
          <p:cNvSpPr>
            <a:spLocks noGrp="1"/>
          </p:cNvSpPr>
          <p:nvPr>
            <p:ph type="subTitle" idx="1"/>
          </p:nvPr>
        </p:nvSpPr>
        <p:spPr>
          <a:xfrm>
            <a:off x="3216000" y="3945771"/>
            <a:ext cx="5760000" cy="1832730"/>
          </a:xfrm>
        </p:spPr>
        <p:txBody>
          <a:bodyPr>
            <a:normAutofit/>
          </a:bodyPr>
          <a:lstStyle>
            <a:lvl1pPr marL="0" indent="0" algn="ctr">
              <a:lnSpc>
                <a:spcPct val="125000"/>
              </a:lnSpc>
              <a:buNone/>
              <a:defRPr sz="24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FD0CA85-BF38-4762-934C-D00F2047C2D1}"/>
              </a:ext>
            </a:extLst>
          </p:cNvPr>
          <p:cNvSpPr>
            <a:spLocks noGrp="1"/>
          </p:cNvSpPr>
          <p:nvPr>
            <p:ph type="dt" sz="half" idx="10"/>
          </p:nvPr>
        </p:nvSpPr>
        <p:spPr/>
        <p:txBody>
          <a:bodyPr/>
          <a:lstStyle/>
          <a:p>
            <a:fld id="{4EC743F4-8769-40B4-85DF-6CB8DE9F66AA}" type="datetimeFigureOut">
              <a:rPr lang="en-US" smtClean="0"/>
              <a:t>6/25/2026</a:t>
            </a:fld>
            <a:endParaRPr lang="en-US"/>
          </a:p>
        </p:txBody>
      </p:sp>
      <p:sp>
        <p:nvSpPr>
          <p:cNvPr id="5" name="Footer Placeholder 4">
            <a:extLst>
              <a:ext uri="{FF2B5EF4-FFF2-40B4-BE49-F238E27FC236}">
                <a16:creationId xmlns:a16="http://schemas.microsoft.com/office/drawing/2014/main" id="{649CA3C9-6579-49D9-A5FD-20231FB4B3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9B94FE-6287-4D49-B0E5-FE9A9BA75A0C}"/>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7" name="Straight Connector 6">
            <a:extLst>
              <a:ext uri="{FF2B5EF4-FFF2-40B4-BE49-F238E27FC236}">
                <a16:creationId xmlns:a16="http://schemas.microsoft.com/office/drawing/2014/main" id="{AE0C0B2A-3FD1-4235-A16E-0ED1E028A93E}"/>
              </a:ext>
            </a:extLst>
          </p:cNvPr>
          <p:cNvCxnSpPr>
            <a:cxnSpLocks/>
          </p:cNvCxnSpPr>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494E066-0146-46E9-BAF1-C33240ABA294}"/>
              </a:ext>
            </a:extLst>
          </p:cNvPr>
          <p:cNvGrpSpPr/>
          <p:nvPr/>
        </p:nvGrpSpPr>
        <p:grpSpPr>
          <a:xfrm rot="2700000">
            <a:off x="10127693" y="4178240"/>
            <a:ext cx="633413" cy="1862138"/>
            <a:chOff x="5959192" y="333389"/>
            <a:chExt cx="633413" cy="1862138"/>
          </a:xfrm>
        </p:grpSpPr>
        <p:grpSp>
          <p:nvGrpSpPr>
            <p:cNvPr id="9" name="Group 8">
              <a:extLst>
                <a:ext uri="{FF2B5EF4-FFF2-40B4-BE49-F238E27FC236}">
                  <a16:creationId xmlns:a16="http://schemas.microsoft.com/office/drawing/2014/main" id="{B02BD80B-C499-4DAC-9580-575B04F8658F}"/>
                </a:ext>
              </a:extLst>
            </p:cNvPr>
            <p:cNvGrpSpPr/>
            <p:nvPr/>
          </p:nvGrpSpPr>
          <p:grpSpPr>
            <a:xfrm>
              <a:off x="5959192" y="333389"/>
              <a:ext cx="633413" cy="1419225"/>
              <a:chOff x="5959192" y="333389"/>
              <a:chExt cx="633413" cy="1419225"/>
            </a:xfrm>
          </p:grpSpPr>
          <p:sp>
            <p:nvSpPr>
              <p:cNvPr id="11" name="Freeform 68">
                <a:extLst>
                  <a:ext uri="{FF2B5EF4-FFF2-40B4-BE49-F238E27FC236}">
                    <a16:creationId xmlns:a16="http://schemas.microsoft.com/office/drawing/2014/main" id="{CCF069F3-858C-4C67-90C2-46017C3D4CEB}"/>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8A1FFA52-DFA8-4A81-8A85-50BE13257F51}"/>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0" name="Line 70">
              <a:extLst>
                <a:ext uri="{FF2B5EF4-FFF2-40B4-BE49-F238E27FC236}">
                  <a16:creationId xmlns:a16="http://schemas.microsoft.com/office/drawing/2014/main" id="{BAEDA471-60CB-4A0C-B9AD-B2B3C51EA2F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685850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2E59-6597-437B-B2F8-E2DD1F86A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E3BC1D-912E-4012-84AC-A509C9EF4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977110C-4AA3-4101-B3BD-140B90AF99C9}"/>
              </a:ext>
            </a:extLst>
          </p:cNvPr>
          <p:cNvSpPr>
            <a:spLocks noGrp="1"/>
          </p:cNvSpPr>
          <p:nvPr>
            <p:ph type="dt" sz="half" idx="10"/>
          </p:nvPr>
        </p:nvSpPr>
        <p:spPr/>
        <p:txBody>
          <a:bodyPr/>
          <a:lstStyle/>
          <a:p>
            <a:fld id="{4EC743F4-8769-40B4-85DF-6CB8DE9F66AA}" type="datetimeFigureOut">
              <a:rPr lang="en-US" smtClean="0"/>
              <a:t>6/25/2026</a:t>
            </a:fld>
            <a:endParaRPr lang="en-US"/>
          </a:p>
        </p:txBody>
      </p:sp>
      <p:sp>
        <p:nvSpPr>
          <p:cNvPr id="5" name="Footer Placeholder 4">
            <a:extLst>
              <a:ext uri="{FF2B5EF4-FFF2-40B4-BE49-F238E27FC236}">
                <a16:creationId xmlns:a16="http://schemas.microsoft.com/office/drawing/2014/main" id="{4C50F189-4D8E-4DE6-8295-CF92FA8BFDEF}"/>
              </a:ext>
            </a:extLst>
          </p:cNvPr>
          <p:cNvSpPr>
            <a:spLocks noGrp="1"/>
          </p:cNvSpPr>
          <p:nvPr>
            <p:ph type="ftr" sz="quarter" idx="11"/>
          </p:nvPr>
        </p:nvSpPr>
        <p:spPr/>
        <p:txBody>
          <a:bodyPr/>
          <a:lstStyle>
            <a:lvl1pPr>
              <a:defRPr/>
            </a:lvl1pPr>
          </a:lstStyle>
          <a:p>
            <a:r>
              <a:rPr lang="en-US" dirty="0" err="1"/>
              <a:t>Macmel</a:t>
            </a:r>
            <a:r>
              <a:rPr lang="en-US" dirty="0"/>
              <a:t> poultry production hub</a:t>
            </a:r>
          </a:p>
        </p:txBody>
      </p:sp>
      <p:sp>
        <p:nvSpPr>
          <p:cNvPr id="6" name="Slide Number Placeholder 5">
            <a:extLst>
              <a:ext uri="{FF2B5EF4-FFF2-40B4-BE49-F238E27FC236}">
                <a16:creationId xmlns:a16="http://schemas.microsoft.com/office/drawing/2014/main" id="{575F33EC-1ACF-4D46-AEA5-A20802210B75}"/>
              </a:ext>
            </a:extLst>
          </p:cNvPr>
          <p:cNvSpPr>
            <a:spLocks noGrp="1"/>
          </p:cNvSpPr>
          <p:nvPr>
            <p:ph type="sldNum" sz="quarter" idx="12"/>
          </p:nvPr>
        </p:nvSpPr>
        <p:spPr>
          <a:xfrm>
            <a:off x="9982800" y="5903916"/>
            <a:ext cx="1760150" cy="914484"/>
          </a:xfrm>
          <a:blipFill dpi="0" rotWithShape="1">
            <a:blip r:embed="rId2">
              <a:alphaModFix amt="64000"/>
            </a:blip>
            <a:srcRect/>
            <a:stretch>
              <a:fillRect/>
            </a:stretch>
          </a:blipFill>
        </p:spPr>
        <p:txBody>
          <a:bodyPr/>
          <a:lstStyle/>
          <a:p>
            <a:fld id="{FF2BD96E-3838-45D2-9031-D3AF67C920A5}" type="slidenum">
              <a:rPr lang="en-US" smtClean="0"/>
              <a:t>‹#›</a:t>
            </a:fld>
            <a:endParaRPr lang="en-US" dirty="0"/>
          </a:p>
        </p:txBody>
      </p:sp>
    </p:spTree>
    <p:extLst>
      <p:ext uri="{BB962C8B-B14F-4D97-AF65-F5344CB8AC3E}">
        <p14:creationId xmlns:p14="http://schemas.microsoft.com/office/powerpoint/2010/main" val="3996094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5267-19A7-4A3D-9658-AD3F78DD35CB}"/>
              </a:ext>
            </a:extLst>
          </p:cNvPr>
          <p:cNvSpPr>
            <a:spLocks noGrp="1"/>
          </p:cNvSpPr>
          <p:nvPr>
            <p:ph type="title"/>
          </p:nvPr>
        </p:nvSpPr>
        <p:spPr>
          <a:xfrm>
            <a:off x="990000" y="2305800"/>
            <a:ext cx="4636800" cy="2246400"/>
          </a:xfrm>
        </p:spPr>
        <p:txBody>
          <a:bodyPr anchor="ctr">
            <a:normAutofit/>
          </a:bodyPr>
          <a:lstStyle>
            <a:lvl1pPr algn="ct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5F17554-5672-499F-BEB9-AB069E6D15F2}"/>
              </a:ext>
            </a:extLst>
          </p:cNvPr>
          <p:cNvSpPr>
            <a:spLocks noGrp="1"/>
          </p:cNvSpPr>
          <p:nvPr>
            <p:ph type="body" idx="1"/>
          </p:nvPr>
        </p:nvSpPr>
        <p:spPr>
          <a:xfrm>
            <a:off x="6565250" y="2305800"/>
            <a:ext cx="4636800" cy="2246400"/>
          </a:xfrm>
        </p:spPr>
        <p:txBody>
          <a:bodyPr anchor="ctr">
            <a:normAutofit/>
          </a:bodyPr>
          <a:lstStyle>
            <a:lvl1pPr marL="0" indent="0" algn="ctr">
              <a:lnSpc>
                <a:spcPct val="125000"/>
              </a:lnSpc>
              <a:buNone/>
              <a:defRPr sz="2400" i="1">
                <a:solidFill>
                  <a:schemeClr val="tx1">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CBA3C6-C279-46AA-B4EE-5F861D83D2AC}"/>
              </a:ext>
            </a:extLst>
          </p:cNvPr>
          <p:cNvSpPr>
            <a:spLocks noGrp="1"/>
          </p:cNvSpPr>
          <p:nvPr>
            <p:ph type="dt" sz="half" idx="10"/>
          </p:nvPr>
        </p:nvSpPr>
        <p:spPr/>
        <p:txBody>
          <a:bodyPr/>
          <a:lstStyle/>
          <a:p>
            <a:fld id="{4EC743F4-8769-40B4-85DF-6CB8DE9F66AA}" type="datetimeFigureOut">
              <a:rPr lang="en-US" smtClean="0"/>
              <a:t>6/25/2026</a:t>
            </a:fld>
            <a:endParaRPr lang="en-US" dirty="0"/>
          </a:p>
        </p:txBody>
      </p:sp>
      <p:sp>
        <p:nvSpPr>
          <p:cNvPr id="5" name="Footer Placeholder 4">
            <a:extLst>
              <a:ext uri="{FF2B5EF4-FFF2-40B4-BE49-F238E27FC236}">
                <a16:creationId xmlns:a16="http://schemas.microsoft.com/office/drawing/2014/main" id="{F04C125B-DDB9-4F4E-B9E9-A747E648FC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3D465E-E86B-42A8-B18A-9046E40D63D6}"/>
              </a:ext>
            </a:extLst>
          </p:cNvPr>
          <p:cNvSpPr>
            <a:spLocks noGrp="1"/>
          </p:cNvSpPr>
          <p:nvPr>
            <p:ph type="sldNum" sz="quarter" idx="12"/>
          </p:nvPr>
        </p:nvSpPr>
        <p:spPr/>
        <p:txBody>
          <a:bodyPr/>
          <a:lstStyle/>
          <a:p>
            <a:fld id="{FF2BD96E-3838-45D2-9031-D3AF67C920A5}" type="slidenum">
              <a:rPr lang="en-US" smtClean="0"/>
              <a:t>‹#›</a:t>
            </a:fld>
            <a:endParaRPr lang="en-US"/>
          </a:p>
        </p:txBody>
      </p:sp>
      <p:sp>
        <p:nvSpPr>
          <p:cNvPr id="7" name="Oval 6">
            <a:extLst>
              <a:ext uri="{FF2B5EF4-FFF2-40B4-BE49-F238E27FC236}">
                <a16:creationId xmlns:a16="http://schemas.microsoft.com/office/drawing/2014/main" id="{6681007E-0E57-40DB-9A98-D04E0A05937B}"/>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8" name="Group 7">
            <a:extLst>
              <a:ext uri="{FF2B5EF4-FFF2-40B4-BE49-F238E27FC236}">
                <a16:creationId xmlns:a16="http://schemas.microsoft.com/office/drawing/2014/main" id="{4C2D7ED2-BAE3-470E-9EFF-F2A49EDD9767}"/>
              </a:ext>
            </a:extLst>
          </p:cNvPr>
          <p:cNvGrpSpPr/>
          <p:nvPr/>
        </p:nvGrpSpPr>
        <p:grpSpPr>
          <a:xfrm rot="10800000">
            <a:off x="1079500" y="952167"/>
            <a:ext cx="641184" cy="1069728"/>
            <a:chOff x="6484111" y="2967038"/>
            <a:chExt cx="641184" cy="1069728"/>
          </a:xfrm>
        </p:grpSpPr>
        <p:grpSp>
          <p:nvGrpSpPr>
            <p:cNvPr id="9" name="Group 8">
              <a:extLst>
                <a:ext uri="{FF2B5EF4-FFF2-40B4-BE49-F238E27FC236}">
                  <a16:creationId xmlns:a16="http://schemas.microsoft.com/office/drawing/2014/main" id="{15B14D1A-9E1B-41C3-96AA-A5C40C4F9B3A}"/>
                </a:ext>
              </a:extLst>
            </p:cNvPr>
            <p:cNvGrpSpPr/>
            <p:nvPr/>
          </p:nvGrpSpPr>
          <p:grpSpPr>
            <a:xfrm>
              <a:off x="6808136" y="2967038"/>
              <a:ext cx="317159" cy="932400"/>
              <a:chOff x="6808136" y="2967038"/>
              <a:chExt cx="317159" cy="932400"/>
            </a:xfrm>
          </p:grpSpPr>
          <p:sp>
            <p:nvSpPr>
              <p:cNvPr id="14" name="Freeform 68">
                <a:extLst>
                  <a:ext uri="{FF2B5EF4-FFF2-40B4-BE49-F238E27FC236}">
                    <a16:creationId xmlns:a16="http://schemas.microsoft.com/office/drawing/2014/main" id="{00EC83EC-04A6-4533-80A5-B1817F1FB35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BF61FF24-9074-4265-ACF4-1AEC3621B76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8D31D9FF-672B-4C5E-B4B2-DD86A124413F}"/>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0" name="Group 9">
              <a:extLst>
                <a:ext uri="{FF2B5EF4-FFF2-40B4-BE49-F238E27FC236}">
                  <a16:creationId xmlns:a16="http://schemas.microsoft.com/office/drawing/2014/main" id="{8991EBFD-EBD5-48CE-9178-AF5B6F50D416}"/>
                </a:ext>
              </a:extLst>
            </p:cNvPr>
            <p:cNvGrpSpPr/>
            <p:nvPr/>
          </p:nvGrpSpPr>
          <p:grpSpPr>
            <a:xfrm rot="18900000" flipH="1">
              <a:off x="6484111" y="3104366"/>
              <a:ext cx="317159" cy="932400"/>
              <a:chOff x="6808136" y="2967038"/>
              <a:chExt cx="317159" cy="932400"/>
            </a:xfrm>
          </p:grpSpPr>
          <p:sp>
            <p:nvSpPr>
              <p:cNvPr id="11" name="Freeform 68">
                <a:extLst>
                  <a:ext uri="{FF2B5EF4-FFF2-40B4-BE49-F238E27FC236}">
                    <a16:creationId xmlns:a16="http://schemas.microsoft.com/office/drawing/2014/main" id="{1B45F046-3129-4A30-9402-44BA590CD1B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24589F32-BB2E-46B1-BAB5-75EA779C7A25}"/>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Line 70">
                <a:extLst>
                  <a:ext uri="{FF2B5EF4-FFF2-40B4-BE49-F238E27FC236}">
                    <a16:creationId xmlns:a16="http://schemas.microsoft.com/office/drawing/2014/main" id="{0BD46CA5-AE89-4413-AB8D-347179D8813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cxnSp>
        <p:nvCxnSpPr>
          <p:cNvPr id="17" name="Straight Connector 16">
            <a:extLst>
              <a:ext uri="{FF2B5EF4-FFF2-40B4-BE49-F238E27FC236}">
                <a16:creationId xmlns:a16="http://schemas.microsoft.com/office/drawing/2014/main" id="{4043A360-3214-4DB8-BD85-C6AE48D02D3A}"/>
              </a:ext>
            </a:extLst>
          </p:cNvPr>
          <p:cNvCxnSpPr>
            <a:cxnSpLocks/>
          </p:cNvCxnSpPr>
          <p:nvPr/>
        </p:nvCxnSpPr>
        <p:spPr>
          <a:xfrm rot="16200000" flipH="1">
            <a:off x="5826000" y="342900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1473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AEE3-6C7B-402E-B26D-1D079D78D30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1101641-6BDA-433D-9393-1DDACE06701C}"/>
              </a:ext>
            </a:extLst>
          </p:cNvPr>
          <p:cNvSpPr>
            <a:spLocks noGrp="1"/>
          </p:cNvSpPr>
          <p:nvPr>
            <p:ph sz="half" idx="1"/>
          </p:nvPr>
        </p:nvSpPr>
        <p:spPr>
          <a:xfrm>
            <a:off x="989400"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B8F8D2A-A489-488D-B1E1-23F36D3E95C7}"/>
              </a:ext>
            </a:extLst>
          </p:cNvPr>
          <p:cNvSpPr>
            <a:spLocks noGrp="1"/>
          </p:cNvSpPr>
          <p:nvPr>
            <p:ph sz="half" idx="2"/>
          </p:nvPr>
        </p:nvSpPr>
        <p:spPr>
          <a:xfrm>
            <a:off x="6274202"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1CA242E8-AEEF-4BBD-94E9-86F89D69522C}"/>
              </a:ext>
            </a:extLst>
          </p:cNvPr>
          <p:cNvSpPr>
            <a:spLocks noGrp="1"/>
          </p:cNvSpPr>
          <p:nvPr>
            <p:ph type="dt" sz="half" idx="10"/>
          </p:nvPr>
        </p:nvSpPr>
        <p:spPr/>
        <p:txBody>
          <a:bodyPr/>
          <a:lstStyle/>
          <a:p>
            <a:fld id="{4EC743F4-8769-40B4-85DF-6CB8DE9F66AA}" type="datetimeFigureOut">
              <a:rPr lang="en-US" smtClean="0"/>
              <a:t>6/25/2026</a:t>
            </a:fld>
            <a:endParaRPr lang="en-US"/>
          </a:p>
        </p:txBody>
      </p:sp>
      <p:sp>
        <p:nvSpPr>
          <p:cNvPr id="6" name="Footer Placeholder 5">
            <a:extLst>
              <a:ext uri="{FF2B5EF4-FFF2-40B4-BE49-F238E27FC236}">
                <a16:creationId xmlns:a16="http://schemas.microsoft.com/office/drawing/2014/main" id="{BD58D2CA-06C9-412D-A5D6-F97DDBBB03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050016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2251-8A4B-463E-982B-C657C3810F36}"/>
              </a:ext>
            </a:extLst>
          </p:cNvPr>
          <p:cNvSpPr>
            <a:spLocks noGrp="1"/>
          </p:cNvSpPr>
          <p:nvPr>
            <p:ph type="title"/>
          </p:nvPr>
        </p:nvSpPr>
        <p:spPr>
          <a:xfrm>
            <a:off x="989400" y="395289"/>
            <a:ext cx="10213200" cy="111283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74D5E-AC0B-46BF-8840-61CC89C3B6BE}"/>
              </a:ext>
            </a:extLst>
          </p:cNvPr>
          <p:cNvSpPr>
            <a:spLocks noGrp="1"/>
          </p:cNvSpPr>
          <p:nvPr>
            <p:ph type="body" idx="1"/>
          </p:nvPr>
        </p:nvSpPr>
        <p:spPr>
          <a:xfrm>
            <a:off x="989399" y="1736732"/>
            <a:ext cx="4928400" cy="661912"/>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A0738-7A90-4A35-AB98-9656D6187286}"/>
              </a:ext>
            </a:extLst>
          </p:cNvPr>
          <p:cNvSpPr>
            <a:spLocks noGrp="1"/>
          </p:cNvSpPr>
          <p:nvPr>
            <p:ph sz="half" idx="2"/>
          </p:nvPr>
        </p:nvSpPr>
        <p:spPr>
          <a:xfrm>
            <a:off x="989400" y="2431256"/>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DADFE01-1BA7-4288-9355-8B2B508BE582}"/>
              </a:ext>
            </a:extLst>
          </p:cNvPr>
          <p:cNvSpPr>
            <a:spLocks noGrp="1"/>
          </p:cNvSpPr>
          <p:nvPr>
            <p:ph type="body" sz="quarter" idx="3"/>
          </p:nvPr>
        </p:nvSpPr>
        <p:spPr>
          <a:xfrm>
            <a:off x="6274200" y="1736732"/>
            <a:ext cx="4928400" cy="662400"/>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D49F77-6C55-47AC-B1AE-5D9906DBD7F6}"/>
              </a:ext>
            </a:extLst>
          </p:cNvPr>
          <p:cNvSpPr>
            <a:spLocks noGrp="1"/>
          </p:cNvSpPr>
          <p:nvPr>
            <p:ph sz="quarter" idx="4"/>
          </p:nvPr>
        </p:nvSpPr>
        <p:spPr>
          <a:xfrm>
            <a:off x="6274200" y="2431257"/>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D8EF53-AF86-47E8-83DC-8C419847A639}"/>
              </a:ext>
            </a:extLst>
          </p:cNvPr>
          <p:cNvSpPr>
            <a:spLocks noGrp="1"/>
          </p:cNvSpPr>
          <p:nvPr>
            <p:ph type="dt" sz="half" idx="10"/>
          </p:nvPr>
        </p:nvSpPr>
        <p:spPr/>
        <p:txBody>
          <a:bodyPr/>
          <a:lstStyle/>
          <a:p>
            <a:fld id="{4EC743F4-8769-40B4-85DF-6CB8DE9F66AA}" type="datetimeFigureOut">
              <a:rPr lang="en-US" smtClean="0"/>
              <a:t>6/25/2026</a:t>
            </a:fld>
            <a:endParaRPr lang="en-US"/>
          </a:p>
        </p:txBody>
      </p:sp>
      <p:sp>
        <p:nvSpPr>
          <p:cNvPr id="8" name="Footer Placeholder 7">
            <a:extLst>
              <a:ext uri="{FF2B5EF4-FFF2-40B4-BE49-F238E27FC236}">
                <a16:creationId xmlns:a16="http://schemas.microsoft.com/office/drawing/2014/main" id="{5C01D653-ED9A-46D3-A97F-B5FA1DAE6C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798673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p:txBody>
          <a:bodyPr/>
          <a:lstStyle/>
          <a:p>
            <a:fld id="{4EC743F4-8769-40B4-85DF-6CB8DE9F66AA}" type="datetimeFigureOut">
              <a:rPr lang="en-US" smtClean="0"/>
              <a:t>6/25/2026</a:t>
            </a:fld>
            <a:endParaRPr lang="en-US"/>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417292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46A27C-9BDA-43B3-96EA-C145EA7F04DE}"/>
              </a:ext>
            </a:extLst>
          </p:cNvPr>
          <p:cNvSpPr>
            <a:spLocks noGrp="1"/>
          </p:cNvSpPr>
          <p:nvPr>
            <p:ph type="dt" sz="half" idx="10"/>
          </p:nvPr>
        </p:nvSpPr>
        <p:spPr/>
        <p:txBody>
          <a:bodyPr/>
          <a:lstStyle/>
          <a:p>
            <a:fld id="{4EC743F4-8769-40B4-85DF-6CB8DE9F66AA}" type="datetimeFigureOut">
              <a:rPr lang="en-US" smtClean="0"/>
              <a:t>6/25/2026</a:t>
            </a:fld>
            <a:endParaRPr lang="en-US"/>
          </a:p>
        </p:txBody>
      </p:sp>
      <p:sp>
        <p:nvSpPr>
          <p:cNvPr id="3" name="Footer Placeholder 2">
            <a:extLst>
              <a:ext uri="{FF2B5EF4-FFF2-40B4-BE49-F238E27FC236}">
                <a16:creationId xmlns:a16="http://schemas.microsoft.com/office/drawing/2014/main" id="{791FBD5E-AA17-42F1-8615-49F2664DD4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57A2D5-EBE5-43DD-8CF2-8B90801A0DF5}"/>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849516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51E1-40E1-4ED2-A9E3-6376E774AD27}"/>
              </a:ext>
            </a:extLst>
          </p:cNvPr>
          <p:cNvSpPr>
            <a:spLocks noGrp="1"/>
          </p:cNvSpPr>
          <p:nvPr>
            <p:ph type="title"/>
          </p:nvPr>
        </p:nvSpPr>
        <p:spPr>
          <a:xfrm>
            <a:off x="990001" y="955674"/>
            <a:ext cx="3531600" cy="1384995"/>
          </a:xfrm>
        </p:spPr>
        <p:txBody>
          <a:bodyPr anchor="b">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BAAE5E-AD83-40D4-8BDB-6B25250247AA}"/>
              </a:ext>
            </a:extLst>
          </p:cNvPr>
          <p:cNvSpPr>
            <a:spLocks noGrp="1"/>
          </p:cNvSpPr>
          <p:nvPr>
            <p:ph idx="1"/>
          </p:nvPr>
        </p:nvSpPr>
        <p:spPr>
          <a:xfrm>
            <a:off x="5444850" y="882651"/>
            <a:ext cx="5760000" cy="489584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D4DF8E2-A28B-4889-AD9E-1D733FEA2E0C}"/>
              </a:ext>
            </a:extLst>
          </p:cNvPr>
          <p:cNvSpPr>
            <a:spLocks noGrp="1"/>
          </p:cNvSpPr>
          <p:nvPr>
            <p:ph type="body" sz="half" idx="2"/>
          </p:nvPr>
        </p:nvSpPr>
        <p:spPr>
          <a:xfrm>
            <a:off x="989401" y="2584759"/>
            <a:ext cx="3531600" cy="3193741"/>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2EF812-B775-468C-84D9-4394CC19F298}"/>
              </a:ext>
            </a:extLst>
          </p:cNvPr>
          <p:cNvSpPr>
            <a:spLocks noGrp="1"/>
          </p:cNvSpPr>
          <p:nvPr>
            <p:ph type="dt" sz="half" idx="10"/>
          </p:nvPr>
        </p:nvSpPr>
        <p:spPr/>
        <p:txBody>
          <a:bodyPr/>
          <a:lstStyle/>
          <a:p>
            <a:fld id="{4EC743F4-8769-40B4-85DF-6CB8DE9F66AA}" type="datetimeFigureOut">
              <a:rPr lang="en-US" smtClean="0"/>
              <a:t>6/25/2026</a:t>
            </a:fld>
            <a:endParaRPr lang="en-US"/>
          </a:p>
        </p:txBody>
      </p:sp>
      <p:sp>
        <p:nvSpPr>
          <p:cNvPr id="6" name="Footer Placeholder 5">
            <a:extLst>
              <a:ext uri="{FF2B5EF4-FFF2-40B4-BE49-F238E27FC236}">
                <a16:creationId xmlns:a16="http://schemas.microsoft.com/office/drawing/2014/main" id="{9DE1DEB3-5237-467C-A5B6-EDA7F366EB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877A6B-440F-4D7B-92DA-1B964D029F12}"/>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10" name="Straight Connector 9">
            <a:extLst>
              <a:ext uri="{FF2B5EF4-FFF2-40B4-BE49-F238E27FC236}">
                <a16:creationId xmlns:a16="http://schemas.microsoft.com/office/drawing/2014/main" id="{DC89B2F1-1E32-44DB-B50E-BEA1896CAD81}"/>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0754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B204-119E-45DB-A177-995FF5D9B4E5}"/>
              </a:ext>
            </a:extLst>
          </p:cNvPr>
          <p:cNvSpPr>
            <a:spLocks noGrp="1"/>
          </p:cNvSpPr>
          <p:nvPr>
            <p:ph type="title"/>
          </p:nvPr>
        </p:nvSpPr>
        <p:spPr>
          <a:xfrm>
            <a:off x="990000" y="955456"/>
            <a:ext cx="3531600" cy="1384995"/>
          </a:xfrm>
        </p:spPr>
        <p:txBody>
          <a:bodyPr anchor="b"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CD3036-53A8-4361-AAAC-D8072EB470FE}"/>
              </a:ext>
            </a:extLst>
          </p:cNvPr>
          <p:cNvSpPr>
            <a:spLocks noGrp="1"/>
          </p:cNvSpPr>
          <p:nvPr>
            <p:ph type="pic" idx="1"/>
          </p:nvPr>
        </p:nvSpPr>
        <p:spPr>
          <a:xfrm>
            <a:off x="5537200" y="540001"/>
            <a:ext cx="6115050" cy="52385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0FCFCD5-820E-47D9-9A60-57680C4C9405}"/>
              </a:ext>
            </a:extLst>
          </p:cNvPr>
          <p:cNvSpPr>
            <a:spLocks noGrp="1"/>
          </p:cNvSpPr>
          <p:nvPr>
            <p:ph type="body" sz="half" idx="2"/>
          </p:nvPr>
        </p:nvSpPr>
        <p:spPr>
          <a:xfrm>
            <a:off x="990000" y="2584758"/>
            <a:ext cx="3531600" cy="3284229"/>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2446C3-A62E-4690-9098-53D59C4C33E0}"/>
              </a:ext>
            </a:extLst>
          </p:cNvPr>
          <p:cNvSpPr>
            <a:spLocks noGrp="1"/>
          </p:cNvSpPr>
          <p:nvPr>
            <p:ph type="dt" sz="half" idx="10"/>
          </p:nvPr>
        </p:nvSpPr>
        <p:spPr/>
        <p:txBody>
          <a:bodyPr/>
          <a:lstStyle/>
          <a:p>
            <a:fld id="{4EC743F4-8769-40B4-85DF-6CB8DE9F66AA}" type="datetimeFigureOut">
              <a:rPr lang="en-US" smtClean="0"/>
              <a:t>6/25/2026</a:t>
            </a:fld>
            <a:endParaRPr lang="en-US"/>
          </a:p>
        </p:txBody>
      </p:sp>
      <p:sp>
        <p:nvSpPr>
          <p:cNvPr id="6" name="Footer Placeholder 5">
            <a:extLst>
              <a:ext uri="{FF2B5EF4-FFF2-40B4-BE49-F238E27FC236}">
                <a16:creationId xmlns:a16="http://schemas.microsoft.com/office/drawing/2014/main" id="{40A6C8B8-EA3D-45E5-950A-B6F1EA0B47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2ACAB7-ADBF-42E5-A214-232BA9EFB3B6}"/>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9" name="Straight Connector 8">
            <a:extLst>
              <a:ext uri="{FF2B5EF4-FFF2-40B4-BE49-F238E27FC236}">
                <a16:creationId xmlns:a16="http://schemas.microsoft.com/office/drawing/2014/main" id="{D0E80DA6-B971-46B7-B0D3-8581AE0B6ACB}"/>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0992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FB6D0-92CA-4910-AE77-E238F4C89D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913172-A138-4DD4-A5B1-58BA625078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897B9-E4AD-469B-A60D-9A1A4BD1980A}"/>
              </a:ext>
            </a:extLst>
          </p:cNvPr>
          <p:cNvSpPr>
            <a:spLocks noGrp="1"/>
          </p:cNvSpPr>
          <p:nvPr>
            <p:ph type="dt" sz="half" idx="10"/>
          </p:nvPr>
        </p:nvSpPr>
        <p:spPr/>
        <p:txBody>
          <a:bodyPr/>
          <a:lstStyle/>
          <a:p>
            <a:fld id="{4EC743F4-8769-40B4-85DF-6CB8DE9F66AA}" type="datetimeFigureOut">
              <a:rPr lang="en-US" smtClean="0"/>
              <a:t>6/25/2026</a:t>
            </a:fld>
            <a:endParaRPr lang="en-US"/>
          </a:p>
        </p:txBody>
      </p:sp>
      <p:sp>
        <p:nvSpPr>
          <p:cNvPr id="5" name="Footer Placeholder 4">
            <a:extLst>
              <a:ext uri="{FF2B5EF4-FFF2-40B4-BE49-F238E27FC236}">
                <a16:creationId xmlns:a16="http://schemas.microsoft.com/office/drawing/2014/main" id="{31C5E1B0-48D6-4F99-9955-39958BA969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9F49DA-55D4-4E36-AEB9-A0E99E31A87E}"/>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328358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FEBC7C-C5C1-4A79-A195-B35701C289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D34A74-3328-469B-ABCA-96F2FE3687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E19AB-5637-455E-89C3-B41702C202D4}"/>
              </a:ext>
            </a:extLst>
          </p:cNvPr>
          <p:cNvSpPr>
            <a:spLocks noGrp="1"/>
          </p:cNvSpPr>
          <p:nvPr>
            <p:ph type="dt" sz="half" idx="10"/>
          </p:nvPr>
        </p:nvSpPr>
        <p:spPr/>
        <p:txBody>
          <a:bodyPr/>
          <a:lstStyle/>
          <a:p>
            <a:fld id="{4EC743F4-8769-40B4-85DF-6CB8DE9F66AA}" type="datetimeFigureOut">
              <a:rPr lang="en-US" smtClean="0"/>
              <a:t>6/25/2026</a:t>
            </a:fld>
            <a:endParaRPr lang="en-US"/>
          </a:p>
        </p:txBody>
      </p:sp>
      <p:sp>
        <p:nvSpPr>
          <p:cNvPr id="5" name="Footer Placeholder 4">
            <a:extLst>
              <a:ext uri="{FF2B5EF4-FFF2-40B4-BE49-F238E27FC236}">
                <a16:creationId xmlns:a16="http://schemas.microsoft.com/office/drawing/2014/main" id="{A364F2A3-EBEE-4F42-BAC2-A482F00E67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FE1C27-1A43-4B0B-88D0-0C5FE1DBE161}"/>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052737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j-lt"/>
              </a:defRPr>
            </a:lvl1pPr>
          </a:lstStyle>
          <a:p>
            <a:fld id="{4EC743F4-8769-40B4-85DF-6CB8DE9F66AA}" type="datetimeFigureOut">
              <a:rPr lang="en-US" smtClean="0"/>
              <a:pPr/>
              <a:t>6/25/2026</a:t>
            </a:fld>
            <a:endParaRPr lang="en-US" dirty="0"/>
          </a:p>
        </p:txBody>
      </p:sp>
      <p:sp>
        <p:nvSpPr>
          <p:cNvPr id="5" name="Footer Placeholder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mj-lt"/>
              </a:defRPr>
            </a:lvl1pPr>
          </a:lstStyle>
          <a:p>
            <a:endParaRPr lang="en-US" dirty="0"/>
          </a:p>
        </p:txBody>
      </p:sp>
      <p:sp>
        <p:nvSpPr>
          <p:cNvPr id="6" name="Slide Number Placeholder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j-lt"/>
              </a:defRPr>
            </a:lvl1pPr>
          </a:lstStyle>
          <a:p>
            <a:fld id="{FF2BD96E-3838-45D2-9031-D3AF67C920A5}" type="slidenum">
              <a:rPr lang="en-US" smtClean="0"/>
              <a:pPr/>
              <a:t>‹#›</a:t>
            </a:fld>
            <a:endParaRPr lang="en-US" dirty="0"/>
          </a:p>
        </p:txBody>
      </p:sp>
    </p:spTree>
    <p:extLst>
      <p:ext uri="{BB962C8B-B14F-4D97-AF65-F5344CB8AC3E}">
        <p14:creationId xmlns:p14="http://schemas.microsoft.com/office/powerpoint/2010/main" val="1268096837"/>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txStyles>
    <p:title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mn-lt"/>
          <a:ea typeface="+mn-ea"/>
          <a:cs typeface="+mn-cs"/>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mn-lt"/>
          <a:ea typeface="+mn-ea"/>
          <a:cs typeface="+mn-cs"/>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673372-4C9A-B7A8-0D57-988E90D9E19F}"/>
              </a:ext>
            </a:extLst>
          </p:cNvPr>
          <p:cNvSpPr>
            <a:spLocks noGrp="1"/>
          </p:cNvSpPr>
          <p:nvPr>
            <p:ph type="ctrTitle"/>
          </p:nvPr>
        </p:nvSpPr>
        <p:spPr>
          <a:xfrm>
            <a:off x="990000" y="1089025"/>
            <a:ext cx="4075200" cy="1532951"/>
          </a:xfrm>
        </p:spPr>
        <p:txBody>
          <a:bodyPr>
            <a:normAutofit/>
          </a:bodyPr>
          <a:lstStyle/>
          <a:p>
            <a:pPr>
              <a:lnSpc>
                <a:spcPct val="90000"/>
              </a:lnSpc>
            </a:pPr>
            <a:r>
              <a:rPr lang="en-AU" sz="3400"/>
              <a:t>MACMEL POULTRY PRODUCTION HUB</a:t>
            </a:r>
            <a:endParaRPr lang="en-ZM" sz="3400"/>
          </a:p>
        </p:txBody>
      </p:sp>
      <p:sp>
        <p:nvSpPr>
          <p:cNvPr id="3" name="Subtitle 2">
            <a:extLst>
              <a:ext uri="{FF2B5EF4-FFF2-40B4-BE49-F238E27FC236}">
                <a16:creationId xmlns:a16="http://schemas.microsoft.com/office/drawing/2014/main" id="{6E5E35AB-E89D-AFF5-26D8-BDFDB44D5F2F}"/>
              </a:ext>
            </a:extLst>
          </p:cNvPr>
          <p:cNvSpPr>
            <a:spLocks noGrp="1"/>
          </p:cNvSpPr>
          <p:nvPr>
            <p:ph type="subTitle" idx="1"/>
          </p:nvPr>
        </p:nvSpPr>
        <p:spPr>
          <a:xfrm>
            <a:off x="990000" y="4248000"/>
            <a:ext cx="4075200" cy="1520975"/>
          </a:xfrm>
        </p:spPr>
        <p:txBody>
          <a:bodyPr>
            <a:normAutofit/>
          </a:bodyPr>
          <a:lstStyle/>
          <a:p>
            <a:r>
              <a:rPr lang="en-AU"/>
              <a:t>COMPANY PROFILE</a:t>
            </a:r>
            <a:endParaRPr lang="en-ZM" dirty="0"/>
          </a:p>
        </p:txBody>
      </p:sp>
      <p:grpSp>
        <p:nvGrpSpPr>
          <p:cNvPr id="12" name="Group 11">
            <a:extLst>
              <a:ext uri="{FF2B5EF4-FFF2-40B4-BE49-F238E27FC236}">
                <a16:creationId xmlns:a16="http://schemas.microsoft.com/office/drawing/2014/main" id="{50F37AA1-A09B-4E28-987B-38E5060E1B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19525" y="2840038"/>
            <a:ext cx="2216150" cy="1177924"/>
            <a:chOff x="4987925" y="2840038"/>
            <a:chExt cx="2216150" cy="1177924"/>
          </a:xfrm>
        </p:grpSpPr>
        <p:sp>
          <p:nvSpPr>
            <p:cNvPr id="13" name="Rectangle 12">
              <a:extLst>
                <a:ext uri="{FF2B5EF4-FFF2-40B4-BE49-F238E27FC236}">
                  <a16:creationId xmlns:a16="http://schemas.microsoft.com/office/drawing/2014/main" id="{9874D018-FDBA-4AD4-8C74-17D41F4FB6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DB43F5C4-EF74-49F4-97CB-97938DDC2FF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5" name="Group 14">
                <a:extLst>
                  <a:ext uri="{FF2B5EF4-FFF2-40B4-BE49-F238E27FC236}">
                    <a16:creationId xmlns:a16="http://schemas.microsoft.com/office/drawing/2014/main" id="{B74E0761-A6EC-4896-A2D4-97A0AF0AA0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0" name="Freeform 68">
                  <a:extLst>
                    <a:ext uri="{FF2B5EF4-FFF2-40B4-BE49-F238E27FC236}">
                      <a16:creationId xmlns:a16="http://schemas.microsoft.com/office/drawing/2014/main" id="{E02DDA0C-BC2F-4EA7-B34E-E0A38B82BA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CF13B05D-4163-4B4E-A2D2-FA7ED946823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Line 70">
                  <a:extLst>
                    <a:ext uri="{FF2B5EF4-FFF2-40B4-BE49-F238E27FC236}">
                      <a16:creationId xmlns:a16="http://schemas.microsoft.com/office/drawing/2014/main" id="{6D222543-B140-45C1-A731-C56E6B3A17C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6" name="Group 15">
                <a:extLst>
                  <a:ext uri="{FF2B5EF4-FFF2-40B4-BE49-F238E27FC236}">
                    <a16:creationId xmlns:a16="http://schemas.microsoft.com/office/drawing/2014/main" id="{21D25868-4B38-41A5-8DA7-BB01E853424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7" name="Freeform 68">
                  <a:extLst>
                    <a:ext uri="{FF2B5EF4-FFF2-40B4-BE49-F238E27FC236}">
                      <a16:creationId xmlns:a16="http://schemas.microsoft.com/office/drawing/2014/main" id="{9BA6FA89-CCD8-4CC0-954F-FBBFA59737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73005E59-2B44-4A62-A8F1-504FB17060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C9AB3E16-8B92-47B2-BA2E-02935767A80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4" name="Rectangle 23">
            <a:extLst>
              <a:ext uri="{FF2B5EF4-FFF2-40B4-BE49-F238E27FC236}">
                <a16:creationId xmlns:a16="http://schemas.microsoft.com/office/drawing/2014/main" id="{1B5DF063-A889-4037-8C0F-D6D4241071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pic>
        <p:nvPicPr>
          <p:cNvPr id="5" name="Picture 4">
            <a:extLst>
              <a:ext uri="{FF2B5EF4-FFF2-40B4-BE49-F238E27FC236}">
                <a16:creationId xmlns:a16="http://schemas.microsoft.com/office/drawing/2014/main" id="{8C770D25-3041-F76A-B0B3-6547B33543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1127" y="927730"/>
            <a:ext cx="4999885" cy="4999885"/>
          </a:xfrm>
          <a:prstGeom prst="rect">
            <a:avLst/>
          </a:prstGeom>
        </p:spPr>
      </p:pic>
    </p:spTree>
    <p:extLst>
      <p:ext uri="{BB962C8B-B14F-4D97-AF65-F5344CB8AC3E}">
        <p14:creationId xmlns:p14="http://schemas.microsoft.com/office/powerpoint/2010/main" val="3211518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279C8A1-C4E4-4DE9-934E-91221AC99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B7CE2A-8977-CA03-3AE8-F5844D249E0A}"/>
              </a:ext>
            </a:extLst>
          </p:cNvPr>
          <p:cNvSpPr>
            <a:spLocks noGrp="1"/>
          </p:cNvSpPr>
          <p:nvPr>
            <p:ph type="title"/>
          </p:nvPr>
        </p:nvSpPr>
        <p:spPr>
          <a:xfrm>
            <a:off x="4868987" y="395288"/>
            <a:ext cx="6317998" cy="1120439"/>
          </a:xfrm>
        </p:spPr>
        <p:txBody>
          <a:bodyPr wrap="square" anchor="b">
            <a:normAutofit/>
          </a:bodyPr>
          <a:lstStyle/>
          <a:p>
            <a:pPr algn="ctr"/>
            <a:r>
              <a:rPr lang="en-ZM"/>
              <a:t>About Us</a:t>
            </a:r>
            <a:br>
              <a:rPr lang="en-ZM"/>
            </a:br>
            <a:endParaRPr lang="en-ZM"/>
          </a:p>
        </p:txBody>
      </p:sp>
      <p:pic>
        <p:nvPicPr>
          <p:cNvPr id="14" name="Picture 13" descr="Baby chicks at farm">
            <a:extLst>
              <a:ext uri="{FF2B5EF4-FFF2-40B4-BE49-F238E27FC236}">
                <a16:creationId xmlns:a16="http://schemas.microsoft.com/office/drawing/2014/main" id="{7EE6250F-7964-90CD-AF1B-08E6E7A113CC}"/>
              </a:ext>
            </a:extLst>
          </p:cNvPr>
          <p:cNvPicPr>
            <a:picLocks noChangeAspect="1"/>
          </p:cNvPicPr>
          <p:nvPr/>
        </p:nvPicPr>
        <p:blipFill>
          <a:blip r:embed="rId2"/>
          <a:srcRect l="30149" r="32242" b="-1"/>
          <a:stretch>
            <a:fillRect/>
          </a:stretch>
        </p:blipFill>
        <p:spPr>
          <a:xfrm>
            <a:off x="20" y="10"/>
            <a:ext cx="3863955" cy="6857989"/>
          </a:xfrm>
          <a:prstGeom prst="rect">
            <a:avLst/>
          </a:prstGeom>
        </p:spPr>
      </p:pic>
      <p:cxnSp>
        <p:nvCxnSpPr>
          <p:cNvPr id="15" name="Straight Connector 14">
            <a:extLst>
              <a:ext uri="{FF2B5EF4-FFF2-40B4-BE49-F238E27FC236}">
                <a16:creationId xmlns:a16="http://schemas.microsoft.com/office/drawing/2014/main" id="{26C7ED5D-77C4-4564-8B1A-E55609CF44C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57986" y="19645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5FDD6EF-BD9B-3203-221B-3F661292547D}"/>
              </a:ext>
            </a:extLst>
          </p:cNvPr>
          <p:cNvSpPr>
            <a:spLocks noGrp="1"/>
          </p:cNvSpPr>
          <p:nvPr>
            <p:ph idx="1"/>
          </p:nvPr>
        </p:nvSpPr>
        <p:spPr>
          <a:xfrm>
            <a:off x="4868986" y="2413468"/>
            <a:ext cx="6318000" cy="3365032"/>
          </a:xfrm>
        </p:spPr>
        <p:txBody>
          <a:bodyPr>
            <a:normAutofit/>
          </a:bodyPr>
          <a:lstStyle/>
          <a:p>
            <a:pPr>
              <a:lnSpc>
                <a:spcPct val="140000"/>
              </a:lnSpc>
            </a:pPr>
            <a:r>
              <a:rPr lang="en-ZM" sz="1600" dirty="0" err="1"/>
              <a:t>Macmel</a:t>
            </a:r>
            <a:r>
              <a:rPr lang="en-ZM" sz="1600" dirty="0"/>
              <a:t> Poultry Production Hub is a sustainable and continually improving specialty poultry production business. Founded in 2024 in </a:t>
            </a:r>
            <a:r>
              <a:rPr lang="en-ZM" sz="1600" dirty="0" err="1"/>
              <a:t>Chililabombwe</a:t>
            </a:r>
            <a:r>
              <a:rPr lang="en-ZM" sz="1600" dirty="0"/>
              <a:t>, Zambia, we focus on breeding, rearing, and supplying premium heritage and high-performance poultry breeds.</a:t>
            </a:r>
          </a:p>
          <a:p>
            <a:pPr>
              <a:lnSpc>
                <a:spcPct val="140000"/>
              </a:lnSpc>
            </a:pPr>
            <a:r>
              <a:rPr lang="en-ZM" sz="1600" dirty="0"/>
              <a:t>We are committed to high standards of animal welfare, biosecurity, and environmental sustainability while delivering healthy, productive birds and fertilized eggs to farmers, households, and commercial clients.</a:t>
            </a:r>
          </a:p>
          <a:p>
            <a:pPr marL="0" indent="0">
              <a:lnSpc>
                <a:spcPct val="140000"/>
              </a:lnSpc>
              <a:buNone/>
            </a:pPr>
            <a:endParaRPr lang="en-ZM" sz="1600" dirty="0"/>
          </a:p>
        </p:txBody>
      </p:sp>
    </p:spTree>
    <p:extLst>
      <p:ext uri="{BB962C8B-B14F-4D97-AF65-F5344CB8AC3E}">
        <p14:creationId xmlns:p14="http://schemas.microsoft.com/office/powerpoint/2010/main" val="316309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EE7534-1000-306B-258E-124740DAF38A}"/>
              </a:ext>
            </a:extLst>
          </p:cNvPr>
          <p:cNvSpPr>
            <a:spLocks noGrp="1"/>
          </p:cNvSpPr>
          <p:nvPr>
            <p:ph type="title"/>
          </p:nvPr>
        </p:nvSpPr>
        <p:spPr>
          <a:xfrm>
            <a:off x="990000" y="536575"/>
            <a:ext cx="4078800" cy="1453003"/>
          </a:xfrm>
        </p:spPr>
        <p:txBody>
          <a:bodyPr wrap="square" anchor="b">
            <a:normAutofit/>
          </a:bodyPr>
          <a:lstStyle/>
          <a:p>
            <a:pPr algn="ctr"/>
            <a:r>
              <a:rPr lang="en-ZM"/>
              <a:t>Our Mission</a:t>
            </a:r>
          </a:p>
        </p:txBody>
      </p:sp>
      <p:cxnSp>
        <p:nvCxnSpPr>
          <p:cNvPr id="24" name="Straight Connector 23">
            <a:extLst>
              <a:ext uri="{FF2B5EF4-FFF2-40B4-BE49-F238E27FC236}">
                <a16:creationId xmlns:a16="http://schemas.microsoft.com/office/drawing/2014/main" id="{76D745DA-D03E-47A2-9936-01C39D51A4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75940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 name="Content Placeholder 2">
            <a:extLst>
              <a:ext uri="{FF2B5EF4-FFF2-40B4-BE49-F238E27FC236}">
                <a16:creationId xmlns:a16="http://schemas.microsoft.com/office/drawing/2014/main" id="{274CA1C4-C70B-AB69-4B73-0CD4975B0060}"/>
              </a:ext>
            </a:extLst>
          </p:cNvPr>
          <p:cNvSpPr>
            <a:spLocks noGrp="1"/>
          </p:cNvSpPr>
          <p:nvPr>
            <p:ph idx="1"/>
          </p:nvPr>
        </p:nvSpPr>
        <p:spPr>
          <a:xfrm>
            <a:off x="990000" y="2877018"/>
            <a:ext cx="4078800" cy="2901482"/>
          </a:xfrm>
        </p:spPr>
        <p:txBody>
          <a:bodyPr>
            <a:normAutofit/>
          </a:bodyPr>
          <a:lstStyle/>
          <a:p>
            <a:pPr marL="0" indent="0">
              <a:lnSpc>
                <a:spcPct val="140000"/>
              </a:lnSpc>
              <a:buNone/>
            </a:pPr>
            <a:r>
              <a:rPr lang="en-ZM" sz="700"/>
              <a:t>Our mission at </a:t>
            </a:r>
            <a:r>
              <a:rPr lang="en-ZM" sz="700" err="1"/>
              <a:t>Macmel</a:t>
            </a:r>
            <a:r>
              <a:rPr lang="en-ZM" sz="700"/>
              <a:t> Poultry Production Hub is to provide superior quality specialty poultry and fertilized eggs driven by integrity, innovation, and a strong commitment to animal welfare and sustainability.</a:t>
            </a:r>
          </a:p>
          <a:p>
            <a:pPr marL="0" indent="0">
              <a:lnSpc>
                <a:spcPct val="140000"/>
              </a:lnSpc>
              <a:buNone/>
            </a:pPr>
            <a:r>
              <a:rPr lang="en-ZM" sz="700"/>
              <a:t>We strive to supply healthy, high-performing birds that meet the specific needs of Zambian farmers and consumers.</a:t>
            </a:r>
          </a:p>
          <a:p>
            <a:pPr marL="0" indent="0">
              <a:lnSpc>
                <a:spcPct val="140000"/>
              </a:lnSpc>
              <a:buNone/>
            </a:pPr>
            <a:r>
              <a:rPr lang="en-ZM" sz="700" b="1"/>
              <a:t>Our goal is to give you peace of mind by:</a:t>
            </a:r>
            <a:endParaRPr lang="en-ZM" sz="700"/>
          </a:p>
          <a:p>
            <a:pPr>
              <a:lnSpc>
                <a:spcPct val="140000"/>
              </a:lnSpc>
            </a:pPr>
            <a:r>
              <a:rPr lang="en-ZM" sz="700"/>
              <a:t>Operating as a sustainable and environmentally conscious farm</a:t>
            </a:r>
          </a:p>
          <a:p>
            <a:pPr>
              <a:lnSpc>
                <a:spcPct val="140000"/>
              </a:lnSpc>
            </a:pPr>
            <a:r>
              <a:rPr lang="en-ZM" sz="700"/>
              <a:t>Maintaining a focused range of premium specialty poultry</a:t>
            </a:r>
          </a:p>
          <a:p>
            <a:pPr>
              <a:lnSpc>
                <a:spcPct val="140000"/>
              </a:lnSpc>
            </a:pPr>
            <a:r>
              <a:rPr lang="en-ZM" sz="700"/>
              <a:t>Offering expert guidance on breed selection, rearing, and management</a:t>
            </a:r>
          </a:p>
          <a:p>
            <a:pPr>
              <a:lnSpc>
                <a:spcPct val="140000"/>
              </a:lnSpc>
            </a:pPr>
            <a:r>
              <a:rPr lang="en-ZM" sz="700"/>
              <a:t>Delivering consistent quality and reliable supply</a:t>
            </a:r>
          </a:p>
          <a:p>
            <a:pPr>
              <a:lnSpc>
                <a:spcPct val="140000"/>
              </a:lnSpc>
            </a:pPr>
            <a:r>
              <a:rPr lang="en-ZM" sz="700"/>
              <a:t>Building a dedicated and professional team</a:t>
            </a:r>
          </a:p>
          <a:p>
            <a:pPr>
              <a:lnSpc>
                <a:spcPct val="140000"/>
              </a:lnSpc>
            </a:pPr>
            <a:r>
              <a:rPr lang="en-ZM" sz="700"/>
              <a:t>Providing excellent customer service and after-sales support</a:t>
            </a:r>
          </a:p>
          <a:p>
            <a:pPr>
              <a:lnSpc>
                <a:spcPct val="140000"/>
              </a:lnSpc>
            </a:pPr>
            <a:endParaRPr lang="en-ZM" sz="700"/>
          </a:p>
        </p:txBody>
      </p:sp>
      <p:pic>
        <p:nvPicPr>
          <p:cNvPr id="16" name="Picture 15">
            <a:extLst>
              <a:ext uri="{FF2B5EF4-FFF2-40B4-BE49-F238E27FC236}">
                <a16:creationId xmlns:a16="http://schemas.microsoft.com/office/drawing/2014/main" id="{90C289BD-0349-D0D6-3A49-DEF7B0146340}"/>
              </a:ext>
            </a:extLst>
          </p:cNvPr>
          <p:cNvPicPr>
            <a:picLocks noChangeAspect="1"/>
          </p:cNvPicPr>
          <p:nvPr/>
        </p:nvPicPr>
        <p:blipFill>
          <a:blip r:embed="rId2">
            <a:extLst>
              <a:ext uri="{28A0092B-C50C-407E-A947-70E740481C1C}">
                <a14:useLocalDpi xmlns:a14="http://schemas.microsoft.com/office/drawing/2010/main" val="0"/>
              </a:ext>
            </a:extLst>
          </a:blip>
          <a:srcRect r="-1" b="4898"/>
          <a:stretch>
            <a:fillRect/>
          </a:stretch>
        </p:blipFill>
        <p:spPr>
          <a:xfrm>
            <a:off x="6080462" y="10"/>
            <a:ext cx="6111538" cy="6857990"/>
          </a:xfrm>
          <a:prstGeom prst="rect">
            <a:avLst/>
          </a:prstGeom>
        </p:spPr>
      </p:pic>
    </p:spTree>
    <p:extLst>
      <p:ext uri="{BB962C8B-B14F-4D97-AF65-F5344CB8AC3E}">
        <p14:creationId xmlns:p14="http://schemas.microsoft.com/office/powerpoint/2010/main" val="1854255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279C8A1-C4E4-4DE9-934E-91221AC99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79526E-EDDA-5390-0076-4171A0E5BC55}"/>
              </a:ext>
            </a:extLst>
          </p:cNvPr>
          <p:cNvSpPr>
            <a:spLocks noGrp="1"/>
          </p:cNvSpPr>
          <p:nvPr>
            <p:ph type="title"/>
          </p:nvPr>
        </p:nvSpPr>
        <p:spPr>
          <a:xfrm>
            <a:off x="4868987" y="395288"/>
            <a:ext cx="6317998" cy="1120439"/>
          </a:xfrm>
        </p:spPr>
        <p:txBody>
          <a:bodyPr wrap="square" anchor="b">
            <a:normAutofit/>
          </a:bodyPr>
          <a:lstStyle/>
          <a:p>
            <a:pPr algn="ctr"/>
            <a:r>
              <a:rPr lang="en-ZM"/>
              <a:t>Our Vision</a:t>
            </a:r>
          </a:p>
        </p:txBody>
      </p:sp>
      <p:pic>
        <p:nvPicPr>
          <p:cNvPr id="14" name="Picture 13" descr="Top view of seasoned tomahawk steaks">
            <a:extLst>
              <a:ext uri="{FF2B5EF4-FFF2-40B4-BE49-F238E27FC236}">
                <a16:creationId xmlns:a16="http://schemas.microsoft.com/office/drawing/2014/main" id="{E2877197-D444-C399-7A13-DCCE09B439F8}"/>
              </a:ext>
            </a:extLst>
          </p:cNvPr>
          <p:cNvPicPr>
            <a:picLocks noChangeAspect="1"/>
          </p:cNvPicPr>
          <p:nvPr/>
        </p:nvPicPr>
        <p:blipFill>
          <a:blip r:embed="rId2"/>
          <a:srcRect l="33115" r="23221" b="2"/>
          <a:stretch>
            <a:fillRect/>
          </a:stretch>
        </p:blipFill>
        <p:spPr>
          <a:xfrm>
            <a:off x="20" y="10"/>
            <a:ext cx="3863955" cy="6857989"/>
          </a:xfrm>
          <a:prstGeom prst="rect">
            <a:avLst/>
          </a:prstGeom>
        </p:spPr>
      </p:pic>
      <p:cxnSp>
        <p:nvCxnSpPr>
          <p:cNvPr id="15" name="Straight Connector 14">
            <a:extLst>
              <a:ext uri="{FF2B5EF4-FFF2-40B4-BE49-F238E27FC236}">
                <a16:creationId xmlns:a16="http://schemas.microsoft.com/office/drawing/2014/main" id="{26C7ED5D-77C4-4564-8B1A-E55609CF44C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57986" y="196459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D2CEFDD-A05B-F215-2692-B88AB5F3FC04}"/>
              </a:ext>
            </a:extLst>
          </p:cNvPr>
          <p:cNvSpPr>
            <a:spLocks noGrp="1"/>
          </p:cNvSpPr>
          <p:nvPr>
            <p:ph idx="1"/>
          </p:nvPr>
        </p:nvSpPr>
        <p:spPr>
          <a:xfrm>
            <a:off x="4868986" y="2413468"/>
            <a:ext cx="6318000" cy="3365032"/>
          </a:xfrm>
        </p:spPr>
        <p:txBody>
          <a:bodyPr>
            <a:normAutofit/>
          </a:bodyPr>
          <a:lstStyle/>
          <a:p>
            <a:r>
              <a:rPr lang="en-ZM" sz="1900" dirty="0"/>
              <a:t>We aim to be the leading butchery suppliers of 100% natural meat and meat products in Zambia. Our vision is to consistently exceed customer expectations in quality, freshness, reliability, and service while promoting sustainable farming practices, animal welfare, and contributing to local food security and agricultural development.</a:t>
            </a:r>
          </a:p>
          <a:p>
            <a:pPr marL="0" indent="0">
              <a:buNone/>
            </a:pPr>
            <a:endParaRPr lang="en-ZM" sz="1900" dirty="0"/>
          </a:p>
        </p:txBody>
      </p:sp>
    </p:spTree>
    <p:extLst>
      <p:ext uri="{BB962C8B-B14F-4D97-AF65-F5344CB8AC3E}">
        <p14:creationId xmlns:p14="http://schemas.microsoft.com/office/powerpoint/2010/main" val="4264365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5C65D-49BA-7140-6656-7DF6553A03EE}"/>
              </a:ext>
            </a:extLst>
          </p:cNvPr>
          <p:cNvSpPr>
            <a:spLocks noGrp="1"/>
          </p:cNvSpPr>
          <p:nvPr>
            <p:ph type="title"/>
          </p:nvPr>
        </p:nvSpPr>
        <p:spPr/>
        <p:txBody>
          <a:bodyPr/>
          <a:lstStyle/>
          <a:p>
            <a:r>
              <a:rPr lang="en-ZM" dirty="0"/>
              <a:t>Our Specialty Breeds &amp; Products</a:t>
            </a:r>
          </a:p>
        </p:txBody>
      </p:sp>
      <p:sp>
        <p:nvSpPr>
          <p:cNvPr id="3" name="Content Placeholder 2">
            <a:extLst>
              <a:ext uri="{FF2B5EF4-FFF2-40B4-BE49-F238E27FC236}">
                <a16:creationId xmlns:a16="http://schemas.microsoft.com/office/drawing/2014/main" id="{E4F344F5-BFD7-D108-03C9-32E2D3ADB606}"/>
              </a:ext>
            </a:extLst>
          </p:cNvPr>
          <p:cNvSpPr>
            <a:spLocks noGrp="1"/>
          </p:cNvSpPr>
          <p:nvPr>
            <p:ph idx="1"/>
          </p:nvPr>
        </p:nvSpPr>
        <p:spPr>
          <a:xfrm>
            <a:off x="989400" y="2186667"/>
            <a:ext cx="10213200" cy="4040191"/>
          </a:xfrm>
        </p:spPr>
        <p:txBody>
          <a:bodyPr>
            <a:normAutofit/>
          </a:bodyPr>
          <a:lstStyle/>
          <a:p>
            <a:r>
              <a:rPr lang="en-ZM" b="1" dirty="0"/>
              <a:t>Fertilized Eggs</a:t>
            </a:r>
            <a:r>
              <a:rPr lang="en-ZM" dirty="0"/>
              <a:t> — High-quality fertilized eggs from all the above breeds, suitable for hatching or consumption.</a:t>
            </a:r>
          </a:p>
          <a:p>
            <a:endParaRPr lang="en-ZM" dirty="0"/>
          </a:p>
        </p:txBody>
      </p:sp>
    </p:spTree>
    <p:extLst>
      <p:ext uri="{BB962C8B-B14F-4D97-AF65-F5344CB8AC3E}">
        <p14:creationId xmlns:p14="http://schemas.microsoft.com/office/powerpoint/2010/main" val="3810703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Straight Connector 47">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28" name="Group 27">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0"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52"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53" name="Rectangle 52">
            <a:extLst>
              <a:ext uri="{FF2B5EF4-FFF2-40B4-BE49-F238E27FC236}">
                <a16:creationId xmlns:a16="http://schemas.microsoft.com/office/drawing/2014/main" id="{1F4CD6D0-88B6-45F4-AC60-54587D3C9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Placeholder 12">
            <a:extLst>
              <a:ext uri="{FF2B5EF4-FFF2-40B4-BE49-F238E27FC236}">
                <a16:creationId xmlns:a16="http://schemas.microsoft.com/office/drawing/2014/main" id="{4125D657-C99B-EA8E-0C64-C05BED49641D}"/>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b="16974"/>
          <a:stretch>
            <a:fillRect/>
          </a:stretch>
        </p:blipFill>
        <p:spPr>
          <a:xfrm>
            <a:off x="20" y="10"/>
            <a:ext cx="12191980" cy="685799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54" name="Rectangle 53">
            <a:extLst>
              <a:ext uri="{FF2B5EF4-FFF2-40B4-BE49-F238E27FC236}">
                <a16:creationId xmlns:a16="http://schemas.microsoft.com/office/drawing/2014/main" id="{3092D32E-B1E6-4335-BD86-8461882A7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20600" y="-1013389"/>
            <a:ext cx="6857999" cy="8884800"/>
          </a:xfrm>
          <a:prstGeom prst="rect">
            <a:avLst/>
          </a:prstGeom>
          <a:gradFill flip="none" rotWithShape="1">
            <a:gsLst>
              <a:gs pos="0">
                <a:srgbClr val="000000">
                  <a:alpha val="35000"/>
                </a:srgbClr>
              </a:gs>
              <a:gs pos="100000">
                <a:srgbClr val="000000">
                  <a:alpha val="0"/>
                </a:srgbClr>
              </a:gs>
              <a:gs pos="60000">
                <a:srgbClr val="000000">
                  <a:alpha val="2000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Title 8">
            <a:extLst>
              <a:ext uri="{FF2B5EF4-FFF2-40B4-BE49-F238E27FC236}">
                <a16:creationId xmlns:a16="http://schemas.microsoft.com/office/drawing/2014/main" id="{25954BC5-01D4-ADA0-A6C4-003BF00A4583}"/>
              </a:ext>
            </a:extLst>
          </p:cNvPr>
          <p:cNvSpPr>
            <a:spLocks noGrp="1"/>
          </p:cNvSpPr>
          <p:nvPr>
            <p:ph type="title"/>
          </p:nvPr>
        </p:nvSpPr>
        <p:spPr>
          <a:xfrm>
            <a:off x="7106396" y="395289"/>
            <a:ext cx="4075200" cy="2226688"/>
          </a:xfrm>
        </p:spPr>
        <p:txBody>
          <a:bodyPr vert="horz" lIns="91440" tIns="45720" rIns="91440" bIns="45720" rtlCol="0" anchor="b" anchorCtr="0">
            <a:normAutofit/>
          </a:bodyPr>
          <a:lstStyle/>
          <a:p>
            <a:pPr algn="ctr">
              <a:lnSpc>
                <a:spcPct val="90000"/>
              </a:lnSpc>
            </a:pPr>
            <a:r>
              <a:rPr lang="en-US" sz="4800">
                <a:solidFill>
                  <a:srgbClr val="FFFFFF"/>
                </a:solidFill>
              </a:rPr>
              <a:t>Our Specialty Breeds &amp; Products</a:t>
            </a:r>
          </a:p>
        </p:txBody>
      </p:sp>
      <p:sp>
        <p:nvSpPr>
          <p:cNvPr id="11" name="Text Placeholder 10">
            <a:extLst>
              <a:ext uri="{FF2B5EF4-FFF2-40B4-BE49-F238E27FC236}">
                <a16:creationId xmlns:a16="http://schemas.microsoft.com/office/drawing/2014/main" id="{9A37BC96-45FE-CA90-066C-9CC2C109A85F}"/>
              </a:ext>
            </a:extLst>
          </p:cNvPr>
          <p:cNvSpPr>
            <a:spLocks noGrp="1"/>
          </p:cNvSpPr>
          <p:nvPr>
            <p:ph type="body" sz="half" idx="2"/>
          </p:nvPr>
        </p:nvSpPr>
        <p:spPr>
          <a:xfrm>
            <a:off x="7106396" y="4248000"/>
            <a:ext cx="4075200" cy="1520975"/>
          </a:xfrm>
        </p:spPr>
        <p:txBody>
          <a:bodyPr vert="horz" lIns="91440" tIns="45720" rIns="91440" bIns="45720" rtlCol="0">
            <a:normAutofit/>
          </a:bodyPr>
          <a:lstStyle/>
          <a:p>
            <a:pPr algn="ctr">
              <a:lnSpc>
                <a:spcPct val="125000"/>
              </a:lnSpc>
            </a:pPr>
            <a:r>
              <a:rPr lang="en-US" sz="2400">
                <a:solidFill>
                  <a:srgbClr val="FFFFFF">
                    <a:alpha val="90000"/>
                  </a:srgbClr>
                </a:solidFill>
              </a:rPr>
              <a:t>We specialize in the following high-quality poultry</a:t>
            </a:r>
          </a:p>
        </p:txBody>
      </p:sp>
      <p:grpSp>
        <p:nvGrpSpPr>
          <p:cNvPr id="37" name="Group 36">
            <a:extLst>
              <a:ext uri="{FF2B5EF4-FFF2-40B4-BE49-F238E27FC236}">
                <a16:creationId xmlns:a16="http://schemas.microsoft.com/office/drawing/2014/main" id="{DF3051BA-EC19-4D8D-B5E3-10AF20026F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35921" y="2840038"/>
            <a:ext cx="2216150" cy="1177924"/>
            <a:chOff x="4987925" y="2840038"/>
            <a:chExt cx="2216150" cy="1177924"/>
          </a:xfrm>
        </p:grpSpPr>
        <p:sp>
          <p:nvSpPr>
            <p:cNvPr id="38" name="Rectangle 37">
              <a:extLst>
                <a:ext uri="{FF2B5EF4-FFF2-40B4-BE49-F238E27FC236}">
                  <a16:creationId xmlns:a16="http://schemas.microsoft.com/office/drawing/2014/main" id="{FD78C318-2188-4C14-8EEF-F9F6C8CC3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9" name="Group 38">
              <a:extLst>
                <a:ext uri="{FF2B5EF4-FFF2-40B4-BE49-F238E27FC236}">
                  <a16:creationId xmlns:a16="http://schemas.microsoft.com/office/drawing/2014/main" id="{64B20085-9D92-406D-8A76-E698EA9189A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55" name="Group 54">
                <a:extLst>
                  <a:ext uri="{FF2B5EF4-FFF2-40B4-BE49-F238E27FC236}">
                    <a16:creationId xmlns:a16="http://schemas.microsoft.com/office/drawing/2014/main" id="{9C553453-D3A3-4D6C-AB29-56E1D615F6E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56" name="Freeform 68">
                  <a:extLst>
                    <a:ext uri="{FF2B5EF4-FFF2-40B4-BE49-F238E27FC236}">
                      <a16:creationId xmlns:a16="http://schemas.microsoft.com/office/drawing/2014/main" id="{7AAE47F8-C3A8-4034-9064-8C3241A964E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69">
                  <a:extLst>
                    <a:ext uri="{FF2B5EF4-FFF2-40B4-BE49-F238E27FC236}">
                      <a16:creationId xmlns:a16="http://schemas.microsoft.com/office/drawing/2014/main" id="{A1BD09C1-6EAB-4FD0-8E3E-5395370F4CA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7" name="Line 70">
                  <a:extLst>
                    <a:ext uri="{FF2B5EF4-FFF2-40B4-BE49-F238E27FC236}">
                      <a16:creationId xmlns:a16="http://schemas.microsoft.com/office/drawing/2014/main" id="{3A35D392-3E6C-44DF-8AE9-9623BC0EB24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7" name="Group 56">
                <a:extLst>
                  <a:ext uri="{FF2B5EF4-FFF2-40B4-BE49-F238E27FC236}">
                    <a16:creationId xmlns:a16="http://schemas.microsoft.com/office/drawing/2014/main" id="{B3DA3B67-52C7-4832-9866-8D5A5235974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58" name="Freeform 68">
                  <a:extLst>
                    <a:ext uri="{FF2B5EF4-FFF2-40B4-BE49-F238E27FC236}">
                      <a16:creationId xmlns:a16="http://schemas.microsoft.com/office/drawing/2014/main" id="{996787C3-F164-4304-9FBF-2445183468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69">
                  <a:extLst>
                    <a:ext uri="{FF2B5EF4-FFF2-40B4-BE49-F238E27FC236}">
                      <a16:creationId xmlns:a16="http://schemas.microsoft.com/office/drawing/2014/main" id="{8E004CCF-6644-4C43-B8CA-1BCC5C46A2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0" name="Line 70">
                  <a:extLst>
                    <a:ext uri="{FF2B5EF4-FFF2-40B4-BE49-F238E27FC236}">
                      <a16:creationId xmlns:a16="http://schemas.microsoft.com/office/drawing/2014/main" id="{3824467A-05FD-4A66-8B5A-A544E930456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3078585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BBA09B-9666-0861-8615-B4ABF1899AFD}"/>
              </a:ext>
            </a:extLst>
          </p:cNvPr>
          <p:cNvSpPr>
            <a:spLocks noGrp="1"/>
          </p:cNvSpPr>
          <p:nvPr>
            <p:ph type="title"/>
          </p:nvPr>
        </p:nvSpPr>
        <p:spPr>
          <a:xfrm>
            <a:off x="990000" y="536575"/>
            <a:ext cx="4078800" cy="1453003"/>
          </a:xfrm>
        </p:spPr>
        <p:txBody>
          <a:bodyPr vert="horz" wrap="square" lIns="91440" tIns="45720" rIns="91440" bIns="45720" rtlCol="0" anchor="b" anchorCtr="0">
            <a:normAutofit/>
          </a:bodyPr>
          <a:lstStyle/>
          <a:p>
            <a:pPr algn="ctr"/>
            <a:r>
              <a:rPr lang="en-ZM" sz="3200" b="1" dirty="0"/>
              <a:t>Black Australorps</a:t>
            </a:r>
            <a:endParaRPr lang="en-US" sz="3200" kern="1200" cap="none" spc="0" baseline="0" dirty="0">
              <a:solidFill>
                <a:schemeClr val="tx1"/>
              </a:solidFill>
              <a:latin typeface="+mj-lt"/>
              <a:ea typeface="+mj-ea"/>
              <a:cs typeface="+mj-cs"/>
            </a:endParaRPr>
          </a:p>
        </p:txBody>
      </p:sp>
      <p:cxnSp>
        <p:nvCxnSpPr>
          <p:cNvPr id="13" name="Straight Connector 12">
            <a:extLst>
              <a:ext uri="{FF2B5EF4-FFF2-40B4-BE49-F238E27FC236}">
                <a16:creationId xmlns:a16="http://schemas.microsoft.com/office/drawing/2014/main" id="{76D745DA-D03E-47A2-9936-01C39D51A4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75940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AF40E2F7-CDB2-3B0C-3F6C-88D21FB1A6C6}"/>
              </a:ext>
            </a:extLst>
          </p:cNvPr>
          <p:cNvSpPr>
            <a:spLocks noGrp="1"/>
          </p:cNvSpPr>
          <p:nvPr>
            <p:ph type="body" sz="half" idx="2"/>
          </p:nvPr>
        </p:nvSpPr>
        <p:spPr>
          <a:xfrm>
            <a:off x="990000" y="2877018"/>
            <a:ext cx="4078800" cy="2901482"/>
          </a:xfrm>
        </p:spPr>
        <p:txBody>
          <a:bodyPr vert="horz" lIns="91440" tIns="45720" rIns="91440" bIns="45720" rtlCol="0">
            <a:normAutofit fontScale="92500" lnSpcReduction="20000"/>
          </a:bodyPr>
          <a:lstStyle/>
          <a:p>
            <a:r>
              <a:rPr lang="en-ZM" dirty="0"/>
              <a:t>Beautiful jet-black feathered chickens renowned as exceptional egg layers (up to 300+ eggs per year), with a docile temperament and strong foraging ability. Highly adaptable to Zambian conditions.</a:t>
            </a:r>
          </a:p>
          <a:p>
            <a:endParaRPr lang="en-US" dirty="0"/>
          </a:p>
        </p:txBody>
      </p:sp>
      <p:pic>
        <p:nvPicPr>
          <p:cNvPr id="6" name="Picture Placeholder 5">
            <a:extLst>
              <a:ext uri="{FF2B5EF4-FFF2-40B4-BE49-F238E27FC236}">
                <a16:creationId xmlns:a16="http://schemas.microsoft.com/office/drawing/2014/main" id="{F3D35505-3DA1-9179-CE21-48D418D50708}"/>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r="-1" b="4898"/>
          <a:stretch>
            <a:fillRect/>
          </a:stretch>
        </p:blipFill>
        <p:spPr>
          <a:xfrm>
            <a:off x="6080462" y="10"/>
            <a:ext cx="6111538" cy="6857990"/>
          </a:xfrm>
          <a:prstGeom prst="rect">
            <a:avLst/>
          </a:prstGeom>
        </p:spPr>
      </p:pic>
    </p:spTree>
    <p:extLst>
      <p:ext uri="{BB962C8B-B14F-4D97-AF65-F5344CB8AC3E}">
        <p14:creationId xmlns:p14="http://schemas.microsoft.com/office/powerpoint/2010/main" val="1943556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5AAC9-5E02-220A-5D2C-31F6C85C6C2C}"/>
              </a:ext>
            </a:extLst>
          </p:cNvPr>
          <p:cNvSpPr>
            <a:spLocks noGrp="1"/>
          </p:cNvSpPr>
          <p:nvPr>
            <p:ph type="title"/>
          </p:nvPr>
        </p:nvSpPr>
        <p:spPr/>
        <p:txBody>
          <a:bodyPr/>
          <a:lstStyle/>
          <a:p>
            <a:r>
              <a:rPr lang="en-ZM" b="1" dirty="0"/>
              <a:t>Jumbo Quails</a:t>
            </a:r>
            <a:endParaRPr lang="en-ZM" dirty="0"/>
          </a:p>
        </p:txBody>
      </p:sp>
      <p:pic>
        <p:nvPicPr>
          <p:cNvPr id="6" name="Picture Placeholder 5">
            <a:extLst>
              <a:ext uri="{FF2B5EF4-FFF2-40B4-BE49-F238E27FC236}">
                <a16:creationId xmlns:a16="http://schemas.microsoft.com/office/drawing/2014/main" id="{DE2C954E-F9D1-F075-5E14-3100D1A26996}"/>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6333" r="6333"/>
          <a:stretch>
            <a:fillRect/>
          </a:stretch>
        </p:blipFill>
        <p:spPr>
          <a:prstGeom prst="rect">
            <a:avLst/>
          </a:prstGeom>
        </p:spPr>
      </p:pic>
      <p:sp>
        <p:nvSpPr>
          <p:cNvPr id="4" name="Text Placeholder 3">
            <a:extLst>
              <a:ext uri="{FF2B5EF4-FFF2-40B4-BE49-F238E27FC236}">
                <a16:creationId xmlns:a16="http://schemas.microsoft.com/office/drawing/2014/main" id="{7CD17A21-7425-1994-0BE9-939FFC20684B}"/>
              </a:ext>
            </a:extLst>
          </p:cNvPr>
          <p:cNvSpPr>
            <a:spLocks noGrp="1"/>
          </p:cNvSpPr>
          <p:nvPr>
            <p:ph type="body" sz="half" idx="2"/>
          </p:nvPr>
        </p:nvSpPr>
        <p:spPr/>
        <p:txBody>
          <a:bodyPr>
            <a:normAutofit fontScale="92500" lnSpcReduction="20000"/>
          </a:bodyPr>
          <a:lstStyle/>
          <a:p>
            <a:r>
              <a:rPr lang="en-ZM" dirty="0"/>
              <a:t> Fast-maturing, high-yield quails prized for their delicate, </a:t>
            </a:r>
            <a:r>
              <a:rPr lang="en-ZM" dirty="0" err="1"/>
              <a:t>flavorful</a:t>
            </a:r>
            <a:r>
              <a:rPr lang="en-ZM" dirty="0"/>
              <a:t> meat and nutrient-rich eggs. Excellent for small-scale and commercial production due to their short production cycle and high profitability.</a:t>
            </a:r>
          </a:p>
          <a:p>
            <a:endParaRPr lang="en-ZM" dirty="0"/>
          </a:p>
        </p:txBody>
      </p:sp>
    </p:spTree>
    <p:extLst>
      <p:ext uri="{BB962C8B-B14F-4D97-AF65-F5344CB8AC3E}">
        <p14:creationId xmlns:p14="http://schemas.microsoft.com/office/powerpoint/2010/main" val="2276149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0D83B9-24FA-1816-E63F-5330823A3686}"/>
              </a:ext>
            </a:extLst>
          </p:cNvPr>
          <p:cNvSpPr>
            <a:spLocks noGrp="1"/>
          </p:cNvSpPr>
          <p:nvPr>
            <p:ph type="title"/>
          </p:nvPr>
        </p:nvSpPr>
        <p:spPr>
          <a:xfrm>
            <a:off x="990000" y="536575"/>
            <a:ext cx="4078800" cy="1453003"/>
          </a:xfrm>
        </p:spPr>
        <p:txBody>
          <a:bodyPr vert="horz" wrap="square" lIns="91440" tIns="45720" rIns="91440" bIns="45720" rtlCol="0" anchor="b" anchorCtr="0">
            <a:normAutofit/>
          </a:bodyPr>
          <a:lstStyle/>
          <a:p>
            <a:pPr algn="ctr"/>
            <a:r>
              <a:rPr lang="en-US" sz="3200" b="1" kern="1200" cap="none" spc="0" baseline="0">
                <a:solidFill>
                  <a:schemeClr val="tx1"/>
                </a:solidFill>
                <a:latin typeface="+mj-lt"/>
                <a:ea typeface="+mj-ea"/>
                <a:cs typeface="+mj-cs"/>
              </a:rPr>
              <a:t>Chinese Geese</a:t>
            </a:r>
            <a:endParaRPr lang="en-US" sz="3200" kern="1200" cap="none" spc="0" baseline="0">
              <a:solidFill>
                <a:schemeClr val="tx1"/>
              </a:solidFill>
              <a:latin typeface="+mj-lt"/>
              <a:ea typeface="+mj-ea"/>
              <a:cs typeface="+mj-cs"/>
            </a:endParaRPr>
          </a:p>
        </p:txBody>
      </p:sp>
      <p:cxnSp>
        <p:nvCxnSpPr>
          <p:cNvPr id="13" name="Straight Connector 12">
            <a:extLst>
              <a:ext uri="{FF2B5EF4-FFF2-40B4-BE49-F238E27FC236}">
                <a16:creationId xmlns:a16="http://schemas.microsoft.com/office/drawing/2014/main" id="{76D745DA-D03E-47A2-9936-01C39D51A46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75940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E9F0B09-477C-A8AD-1FA1-4580F5A6DC6D}"/>
              </a:ext>
            </a:extLst>
          </p:cNvPr>
          <p:cNvSpPr>
            <a:spLocks noGrp="1"/>
          </p:cNvSpPr>
          <p:nvPr>
            <p:ph type="body" sz="half" idx="2"/>
          </p:nvPr>
        </p:nvSpPr>
        <p:spPr>
          <a:xfrm>
            <a:off x="990000" y="2877018"/>
            <a:ext cx="4078800" cy="2901482"/>
          </a:xfrm>
        </p:spPr>
        <p:txBody>
          <a:bodyPr vert="horz" lIns="91440" tIns="45720" rIns="91440" bIns="45720" rtlCol="0">
            <a:normAutofit/>
          </a:bodyPr>
          <a:lstStyle/>
          <a:p>
            <a:r>
              <a:rPr lang="en-US" sz="1900"/>
              <a:t>Large, hardy geese with excellent foraging ability, ideal for meat production and natural weed/pest control. They are good watch animals and produce rich meat with a unique flavor.</a:t>
            </a:r>
          </a:p>
          <a:p>
            <a:endParaRPr lang="en-US" sz="1900"/>
          </a:p>
        </p:txBody>
      </p:sp>
      <p:pic>
        <p:nvPicPr>
          <p:cNvPr id="6" name="Picture Placeholder 5">
            <a:extLst>
              <a:ext uri="{FF2B5EF4-FFF2-40B4-BE49-F238E27FC236}">
                <a16:creationId xmlns:a16="http://schemas.microsoft.com/office/drawing/2014/main" id="{BA408D46-0475-20A6-C452-9E7ECBBE400D}"/>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5442" r="5442"/>
          <a:stretch>
            <a:fillRect/>
          </a:stretch>
        </p:blipFill>
        <p:spPr>
          <a:xfrm>
            <a:off x="6080462" y="10"/>
            <a:ext cx="6111538" cy="6857990"/>
          </a:xfrm>
          <a:prstGeom prst="rect">
            <a:avLst/>
          </a:prstGeom>
        </p:spPr>
      </p:pic>
    </p:spTree>
    <p:extLst>
      <p:ext uri="{BB962C8B-B14F-4D97-AF65-F5344CB8AC3E}">
        <p14:creationId xmlns:p14="http://schemas.microsoft.com/office/powerpoint/2010/main" val="4135816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12A55-DD0C-A0C2-A94E-B9D0A929062E}"/>
              </a:ext>
            </a:extLst>
          </p:cNvPr>
          <p:cNvSpPr>
            <a:spLocks noGrp="1"/>
          </p:cNvSpPr>
          <p:nvPr>
            <p:ph type="title"/>
          </p:nvPr>
        </p:nvSpPr>
        <p:spPr/>
        <p:txBody>
          <a:bodyPr/>
          <a:lstStyle/>
          <a:p>
            <a:r>
              <a:rPr lang="en-ZM" b="1" dirty="0"/>
              <a:t>Brahma Chickens</a:t>
            </a:r>
            <a:endParaRPr lang="en-ZM" dirty="0"/>
          </a:p>
        </p:txBody>
      </p:sp>
      <p:pic>
        <p:nvPicPr>
          <p:cNvPr id="6" name="Picture Placeholder 5">
            <a:extLst>
              <a:ext uri="{FF2B5EF4-FFF2-40B4-BE49-F238E27FC236}">
                <a16:creationId xmlns:a16="http://schemas.microsoft.com/office/drawing/2014/main" id="{CA8B5299-258C-6140-E498-269997DB11C5}"/>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4615" b="4615"/>
          <a:stretch>
            <a:fillRect/>
          </a:stretch>
        </p:blipFill>
        <p:spPr>
          <a:xfrm>
            <a:off x="5656263" y="485775"/>
            <a:ext cx="6115050" cy="5238750"/>
          </a:xfrm>
          <a:prstGeom prst="rect">
            <a:avLst/>
          </a:prstGeom>
        </p:spPr>
      </p:pic>
      <p:sp>
        <p:nvSpPr>
          <p:cNvPr id="4" name="Text Placeholder 3">
            <a:extLst>
              <a:ext uri="{FF2B5EF4-FFF2-40B4-BE49-F238E27FC236}">
                <a16:creationId xmlns:a16="http://schemas.microsoft.com/office/drawing/2014/main" id="{D3C9BD00-3705-43DC-707F-8A07C3AEEE98}"/>
              </a:ext>
            </a:extLst>
          </p:cNvPr>
          <p:cNvSpPr>
            <a:spLocks noGrp="1"/>
          </p:cNvSpPr>
          <p:nvPr>
            <p:ph type="body" sz="half" idx="2"/>
          </p:nvPr>
        </p:nvSpPr>
        <p:spPr/>
        <p:txBody>
          <a:bodyPr>
            <a:normAutofit fontScale="92500" lnSpcReduction="20000"/>
          </a:bodyPr>
          <a:lstStyle/>
          <a:p>
            <a:r>
              <a:rPr lang="en-ZM" dirty="0"/>
              <a:t>Large, gentle “gentle giants” with feathered legs and striking appearance. Excellent dual-purpose breed providing substantial meat and good egg production. Very calm and cold-hardy.</a:t>
            </a:r>
          </a:p>
          <a:p>
            <a:endParaRPr lang="en-ZM" dirty="0"/>
          </a:p>
        </p:txBody>
      </p:sp>
    </p:spTree>
    <p:extLst>
      <p:ext uri="{BB962C8B-B14F-4D97-AF65-F5344CB8AC3E}">
        <p14:creationId xmlns:p14="http://schemas.microsoft.com/office/powerpoint/2010/main" val="1935599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AE0C0B2A-3FD1-4235-A16E-0ED1E028A9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9494E066-0146-46E9-BAF1-C33240ABA2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10127693" y="4178240"/>
            <a:ext cx="633413" cy="1862138"/>
            <a:chOff x="5959192" y="333389"/>
            <a:chExt cx="633413" cy="1862138"/>
          </a:xfrm>
        </p:grpSpPr>
        <p:grpSp>
          <p:nvGrpSpPr>
            <p:cNvPr id="14" name="Group 13">
              <a:extLst>
                <a:ext uri="{FF2B5EF4-FFF2-40B4-BE49-F238E27FC236}">
                  <a16:creationId xmlns:a16="http://schemas.microsoft.com/office/drawing/2014/main" id="{B02BD80B-C499-4DAC-9580-575B04F8658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CCF069F3-858C-4C67-90C2-46017C3D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8A1FFA52-DFA8-4A81-8A85-50BE13257F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5" name="Line 70">
              <a:extLst>
                <a:ext uri="{FF2B5EF4-FFF2-40B4-BE49-F238E27FC236}">
                  <a16:creationId xmlns:a16="http://schemas.microsoft.com/office/drawing/2014/main" id="{BAEDA471-60CB-4A0C-B9AD-B2B3C51EA2FD}"/>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useBgFill="1">
        <p:nvSpPr>
          <p:cNvPr id="19" name="Rectangle 18">
            <a:extLst>
              <a:ext uri="{FF2B5EF4-FFF2-40B4-BE49-F238E27FC236}">
                <a16:creationId xmlns:a16="http://schemas.microsoft.com/office/drawing/2014/main" id="{3011B0B3-5679-4759-90B8-3B908C4CB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06"/>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3097D5-7878-CAD3-4707-80543BA82C7B}"/>
              </a:ext>
            </a:extLst>
          </p:cNvPr>
          <p:cNvSpPr>
            <a:spLocks noGrp="1"/>
          </p:cNvSpPr>
          <p:nvPr>
            <p:ph type="title"/>
          </p:nvPr>
        </p:nvSpPr>
        <p:spPr>
          <a:xfrm>
            <a:off x="990000" y="395289"/>
            <a:ext cx="4075200" cy="2226688"/>
          </a:xfrm>
        </p:spPr>
        <p:txBody>
          <a:bodyPr vert="horz" lIns="91440" tIns="45720" rIns="91440" bIns="45720" rtlCol="0" anchor="b" anchorCtr="0">
            <a:normAutofit/>
          </a:bodyPr>
          <a:lstStyle/>
          <a:p>
            <a:pPr algn="ctr"/>
            <a:r>
              <a:rPr lang="en-US" sz="4800" b="1"/>
              <a:t>Fertilized Eggs</a:t>
            </a:r>
            <a:endParaRPr lang="en-US" sz="4800"/>
          </a:p>
        </p:txBody>
      </p:sp>
      <p:sp>
        <p:nvSpPr>
          <p:cNvPr id="4" name="Text Placeholder 3">
            <a:extLst>
              <a:ext uri="{FF2B5EF4-FFF2-40B4-BE49-F238E27FC236}">
                <a16:creationId xmlns:a16="http://schemas.microsoft.com/office/drawing/2014/main" id="{2F125BBA-DD44-9272-6DC9-551B5C3D0FFC}"/>
              </a:ext>
            </a:extLst>
          </p:cNvPr>
          <p:cNvSpPr>
            <a:spLocks noGrp="1"/>
          </p:cNvSpPr>
          <p:nvPr>
            <p:ph type="body" sz="half" idx="2"/>
          </p:nvPr>
        </p:nvSpPr>
        <p:spPr>
          <a:xfrm>
            <a:off x="990000" y="4248000"/>
            <a:ext cx="4075200" cy="2070001"/>
          </a:xfrm>
        </p:spPr>
        <p:txBody>
          <a:bodyPr vert="horz" lIns="91440" tIns="45720" rIns="91440" bIns="45720" rtlCol="0">
            <a:normAutofit/>
          </a:bodyPr>
          <a:lstStyle/>
          <a:p>
            <a:pPr algn="ctr">
              <a:lnSpc>
                <a:spcPct val="125000"/>
              </a:lnSpc>
            </a:pPr>
            <a:r>
              <a:rPr lang="en-US" sz="2400"/>
              <a:t>High-quality fertilized eggs from all the above breeds, suitable for hatching or consumption</a:t>
            </a:r>
          </a:p>
        </p:txBody>
      </p:sp>
      <p:grpSp>
        <p:nvGrpSpPr>
          <p:cNvPr id="21" name="Group 20">
            <a:extLst>
              <a:ext uri="{FF2B5EF4-FFF2-40B4-BE49-F238E27FC236}">
                <a16:creationId xmlns:a16="http://schemas.microsoft.com/office/drawing/2014/main" id="{50F37AA1-A09B-4E28-987B-38E5060E1B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19525" y="2840038"/>
            <a:ext cx="2216150" cy="1177924"/>
            <a:chOff x="4987925" y="2840038"/>
            <a:chExt cx="2216150" cy="1177924"/>
          </a:xfrm>
        </p:grpSpPr>
        <p:sp>
          <p:nvSpPr>
            <p:cNvPr id="22" name="Rectangle 21">
              <a:extLst>
                <a:ext uri="{FF2B5EF4-FFF2-40B4-BE49-F238E27FC236}">
                  <a16:creationId xmlns:a16="http://schemas.microsoft.com/office/drawing/2014/main" id="{9874D018-FDBA-4AD4-8C74-17D41F4FB6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DB43F5C4-EF74-49F4-97CB-97938DDC2FF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4" name="Group 23">
                <a:extLst>
                  <a:ext uri="{FF2B5EF4-FFF2-40B4-BE49-F238E27FC236}">
                    <a16:creationId xmlns:a16="http://schemas.microsoft.com/office/drawing/2014/main" id="{B74E0761-A6EC-4896-A2D4-97A0AF0AA0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9" name="Freeform 68">
                  <a:extLst>
                    <a:ext uri="{FF2B5EF4-FFF2-40B4-BE49-F238E27FC236}">
                      <a16:creationId xmlns:a16="http://schemas.microsoft.com/office/drawing/2014/main" id="{E02DDA0C-BC2F-4EA7-B34E-E0A38B82BA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69">
                  <a:extLst>
                    <a:ext uri="{FF2B5EF4-FFF2-40B4-BE49-F238E27FC236}">
                      <a16:creationId xmlns:a16="http://schemas.microsoft.com/office/drawing/2014/main" id="{CF13B05D-4163-4B4E-A2D2-FA7ED946823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Line 70">
                  <a:extLst>
                    <a:ext uri="{FF2B5EF4-FFF2-40B4-BE49-F238E27FC236}">
                      <a16:creationId xmlns:a16="http://schemas.microsoft.com/office/drawing/2014/main" id="{6D222543-B140-45C1-A731-C56E6B3A17C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5" name="Group 24">
                <a:extLst>
                  <a:ext uri="{FF2B5EF4-FFF2-40B4-BE49-F238E27FC236}">
                    <a16:creationId xmlns:a16="http://schemas.microsoft.com/office/drawing/2014/main" id="{21D25868-4B38-41A5-8DA7-BB01E853424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6" name="Freeform 68">
                  <a:extLst>
                    <a:ext uri="{FF2B5EF4-FFF2-40B4-BE49-F238E27FC236}">
                      <a16:creationId xmlns:a16="http://schemas.microsoft.com/office/drawing/2014/main" id="{9BA6FA89-CCD8-4CC0-954F-FBBFA59737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69">
                  <a:extLst>
                    <a:ext uri="{FF2B5EF4-FFF2-40B4-BE49-F238E27FC236}">
                      <a16:creationId xmlns:a16="http://schemas.microsoft.com/office/drawing/2014/main" id="{73005E59-2B44-4A62-A8F1-504FB17060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Line 70">
                  <a:extLst>
                    <a:ext uri="{FF2B5EF4-FFF2-40B4-BE49-F238E27FC236}">
                      <a16:creationId xmlns:a16="http://schemas.microsoft.com/office/drawing/2014/main" id="{C9AB3E16-8B92-47B2-BA2E-02935767A808}"/>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pic>
        <p:nvPicPr>
          <p:cNvPr id="6" name="Picture Placeholder 5">
            <a:extLst>
              <a:ext uri="{FF2B5EF4-FFF2-40B4-BE49-F238E27FC236}">
                <a16:creationId xmlns:a16="http://schemas.microsoft.com/office/drawing/2014/main" id="{FA176975-4D82-4D70-5026-C605257D056A}"/>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24936" r="24936"/>
          <a:stretch>
            <a:fillRect/>
          </a:stretch>
        </p:blipFill>
        <p:spPr>
          <a:xfrm>
            <a:off x="6080462" y="6306"/>
            <a:ext cx="6111538" cy="6858000"/>
          </a:xfrm>
          <a:prstGeom prst="rect">
            <a:avLst/>
          </a:prstGeom>
        </p:spPr>
      </p:pic>
    </p:spTree>
    <p:extLst>
      <p:ext uri="{BB962C8B-B14F-4D97-AF65-F5344CB8AC3E}">
        <p14:creationId xmlns:p14="http://schemas.microsoft.com/office/powerpoint/2010/main" val="2686386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6129A0B-B533-06B4-1ADE-6BFF0952E3BC}"/>
              </a:ext>
            </a:extLst>
          </p:cNvPr>
          <p:cNvSpPr>
            <a:spLocks noGrp="1"/>
          </p:cNvSpPr>
          <p:nvPr>
            <p:ph type="title"/>
          </p:nvPr>
        </p:nvSpPr>
        <p:spPr/>
        <p:txBody>
          <a:bodyPr/>
          <a:lstStyle/>
          <a:p>
            <a:r>
              <a:rPr lang="en-ZM"/>
              <a:t>Why Choose Macmel?</a:t>
            </a:r>
            <a:br>
              <a:rPr lang="en-ZM"/>
            </a:br>
            <a:endParaRPr lang="en-ZM" dirty="0"/>
          </a:p>
        </p:txBody>
      </p:sp>
      <p:graphicFrame>
        <p:nvGraphicFramePr>
          <p:cNvPr id="16" name="Content Placeholder 5">
            <a:extLst>
              <a:ext uri="{FF2B5EF4-FFF2-40B4-BE49-F238E27FC236}">
                <a16:creationId xmlns:a16="http://schemas.microsoft.com/office/drawing/2014/main" id="{3795C65E-DA06-B04A-5F48-B9182F38571E}"/>
              </a:ext>
            </a:extLst>
          </p:cNvPr>
          <p:cNvGraphicFramePr>
            <a:graphicFrameLocks noGrp="1"/>
          </p:cNvGraphicFramePr>
          <p:nvPr>
            <p:ph idx="1"/>
          </p:nvPr>
        </p:nvGraphicFramePr>
        <p:xfrm>
          <a:off x="989400" y="1685925"/>
          <a:ext cx="10213200" cy="40401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23743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8EF721-6BEB-5B51-8503-D35F91DAED29}"/>
              </a:ext>
            </a:extLst>
          </p:cNvPr>
          <p:cNvSpPr>
            <a:spLocks noGrp="1"/>
          </p:cNvSpPr>
          <p:nvPr>
            <p:ph type="title"/>
          </p:nvPr>
        </p:nvSpPr>
        <p:spPr>
          <a:xfrm>
            <a:off x="990000" y="395288"/>
            <a:ext cx="4078800" cy="1597753"/>
          </a:xfrm>
        </p:spPr>
        <p:txBody>
          <a:bodyPr wrap="square" anchor="b">
            <a:normAutofit/>
          </a:bodyPr>
          <a:lstStyle/>
          <a:p>
            <a:pPr algn="ctr"/>
            <a:r>
              <a:rPr lang="en-ZM" dirty="0"/>
              <a:t>Our Portfolio</a:t>
            </a:r>
            <a:endParaRPr lang="en-ZM"/>
          </a:p>
        </p:txBody>
      </p:sp>
      <p:sp>
        <p:nvSpPr>
          <p:cNvPr id="3" name="Content Placeholder 2">
            <a:extLst>
              <a:ext uri="{FF2B5EF4-FFF2-40B4-BE49-F238E27FC236}">
                <a16:creationId xmlns:a16="http://schemas.microsoft.com/office/drawing/2014/main" id="{39FE24C9-DB5F-77E1-766D-25445DC5FFEC}"/>
              </a:ext>
            </a:extLst>
          </p:cNvPr>
          <p:cNvSpPr>
            <a:spLocks noGrp="1"/>
          </p:cNvSpPr>
          <p:nvPr>
            <p:ph idx="1"/>
          </p:nvPr>
        </p:nvSpPr>
        <p:spPr>
          <a:xfrm>
            <a:off x="990000" y="2361601"/>
            <a:ext cx="4078800" cy="3416900"/>
          </a:xfrm>
        </p:spPr>
        <p:txBody>
          <a:bodyPr>
            <a:normAutofit/>
          </a:bodyPr>
          <a:lstStyle/>
          <a:p>
            <a:pPr marL="0" indent="0">
              <a:lnSpc>
                <a:spcPct val="140000"/>
              </a:lnSpc>
              <a:buNone/>
            </a:pPr>
            <a:r>
              <a:rPr lang="en-ZM" sz="1400"/>
              <a:t>Since 2024, </a:t>
            </a:r>
            <a:r>
              <a:rPr lang="en-ZM" sz="1400" err="1"/>
              <a:t>Macmel</a:t>
            </a:r>
            <a:r>
              <a:rPr lang="en-ZM" sz="1400"/>
              <a:t> Poultry Production Hub has successfully supplied healthy Pekin Ducks, Jumbo Quails, Black Australorps, Chinese Geese, and Brahma Chickens to farmers, butcheries, and projects across </a:t>
            </a:r>
            <a:r>
              <a:rPr lang="en-ZM" sz="1400" err="1"/>
              <a:t>Chililabombwe</a:t>
            </a:r>
            <a:r>
              <a:rPr lang="en-ZM" sz="1400"/>
              <a:t> and the Copperbelt region. We continue to expand our breeding stock and incubation capacity to meet the growing demand for 100% natural specialty poultry meat.</a:t>
            </a:r>
          </a:p>
          <a:p>
            <a:pPr>
              <a:lnSpc>
                <a:spcPct val="140000"/>
              </a:lnSpc>
            </a:pPr>
            <a:endParaRPr lang="en-ZM" sz="1400"/>
          </a:p>
        </p:txBody>
      </p:sp>
      <p:cxnSp>
        <p:nvCxnSpPr>
          <p:cNvPr id="18" name="Straight Connector 17">
            <a:extLst>
              <a:ext uri="{FF2B5EF4-FFF2-40B4-BE49-F238E27FC236}">
                <a16:creationId xmlns:a16="http://schemas.microsoft.com/office/drawing/2014/main" id="{CC9CF63D-A2A3-4ECF-BC53-4B0D56918F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540033"/>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pic>
        <p:nvPicPr>
          <p:cNvPr id="5" name="Picture 4" descr="Chickens roaming on grass">
            <a:extLst>
              <a:ext uri="{FF2B5EF4-FFF2-40B4-BE49-F238E27FC236}">
                <a16:creationId xmlns:a16="http://schemas.microsoft.com/office/drawing/2014/main" id="{F7DF8D65-5719-8909-7B64-3063B7DC87B7}"/>
              </a:ext>
            </a:extLst>
          </p:cNvPr>
          <p:cNvPicPr>
            <a:picLocks noChangeAspect="1"/>
          </p:cNvPicPr>
          <p:nvPr/>
        </p:nvPicPr>
        <p:blipFill>
          <a:blip r:embed="rId2"/>
          <a:srcRect l="28542" r="12196"/>
          <a:stretch>
            <a:fillRect/>
          </a:stretch>
        </p:blipFill>
        <p:spPr>
          <a:xfrm>
            <a:off x="6651127" y="622398"/>
            <a:ext cx="4999885" cy="5610549"/>
          </a:xfrm>
          <a:prstGeom prst="rect">
            <a:avLst/>
          </a:prstGeom>
        </p:spPr>
      </p:pic>
    </p:spTree>
    <p:extLst>
      <p:ext uri="{BB962C8B-B14F-4D97-AF65-F5344CB8AC3E}">
        <p14:creationId xmlns:p14="http://schemas.microsoft.com/office/powerpoint/2010/main" val="3116672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86B78-8E87-5902-0EB4-B74A3C6B2E2A}"/>
              </a:ext>
            </a:extLst>
          </p:cNvPr>
          <p:cNvSpPr>
            <a:spLocks noGrp="1"/>
          </p:cNvSpPr>
          <p:nvPr>
            <p:ph type="title"/>
          </p:nvPr>
        </p:nvSpPr>
        <p:spPr/>
        <p:txBody>
          <a:bodyPr/>
          <a:lstStyle/>
          <a:p>
            <a:r>
              <a:rPr lang="en-ZM" dirty="0"/>
              <a:t>The Team</a:t>
            </a:r>
          </a:p>
        </p:txBody>
      </p:sp>
      <p:sp>
        <p:nvSpPr>
          <p:cNvPr id="3" name="Content Placeholder 2">
            <a:extLst>
              <a:ext uri="{FF2B5EF4-FFF2-40B4-BE49-F238E27FC236}">
                <a16:creationId xmlns:a16="http://schemas.microsoft.com/office/drawing/2014/main" id="{1433B29E-F7E7-1719-04E4-116E955D48BA}"/>
              </a:ext>
            </a:extLst>
          </p:cNvPr>
          <p:cNvSpPr>
            <a:spLocks noGrp="1"/>
          </p:cNvSpPr>
          <p:nvPr>
            <p:ph idx="1"/>
          </p:nvPr>
        </p:nvSpPr>
        <p:spPr/>
        <p:txBody>
          <a:bodyPr/>
          <a:lstStyle/>
          <a:p>
            <a:r>
              <a:rPr lang="en-ZM" dirty="0"/>
              <a:t>Our experienced team brings together expertise in specialty poultry breeding, husbandry, incubation, and customer support. We are passionate about raising healthy, productive birds and helping our customers succeed.</a:t>
            </a:r>
          </a:p>
          <a:p>
            <a:endParaRPr lang="en-ZM" dirty="0"/>
          </a:p>
        </p:txBody>
      </p:sp>
    </p:spTree>
    <p:extLst>
      <p:ext uri="{BB962C8B-B14F-4D97-AF65-F5344CB8AC3E}">
        <p14:creationId xmlns:p14="http://schemas.microsoft.com/office/powerpoint/2010/main" val="1828148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C8CFA-936A-705B-E798-5B13FA8519B8}"/>
              </a:ext>
            </a:extLst>
          </p:cNvPr>
          <p:cNvSpPr>
            <a:spLocks noGrp="1"/>
          </p:cNvSpPr>
          <p:nvPr>
            <p:ph type="title"/>
          </p:nvPr>
        </p:nvSpPr>
        <p:spPr/>
        <p:txBody>
          <a:bodyPr/>
          <a:lstStyle/>
          <a:p>
            <a:r>
              <a:rPr lang="en-ZM" dirty="0"/>
              <a:t>Contact Us</a:t>
            </a:r>
          </a:p>
        </p:txBody>
      </p:sp>
      <p:sp>
        <p:nvSpPr>
          <p:cNvPr id="3" name="Content Placeholder 2">
            <a:extLst>
              <a:ext uri="{FF2B5EF4-FFF2-40B4-BE49-F238E27FC236}">
                <a16:creationId xmlns:a16="http://schemas.microsoft.com/office/drawing/2014/main" id="{6F70010B-0CEB-8FB8-E0B4-B1150A625C40}"/>
              </a:ext>
            </a:extLst>
          </p:cNvPr>
          <p:cNvSpPr>
            <a:spLocks noGrp="1"/>
          </p:cNvSpPr>
          <p:nvPr>
            <p:ph idx="1"/>
          </p:nvPr>
        </p:nvSpPr>
        <p:spPr/>
        <p:txBody>
          <a:bodyPr/>
          <a:lstStyle/>
          <a:p>
            <a:r>
              <a:rPr lang="en-ZM" b="1" dirty="0" err="1"/>
              <a:t>Macmel</a:t>
            </a:r>
            <a:r>
              <a:rPr lang="en-ZM" b="1" dirty="0"/>
              <a:t> Poultry Production Hub</a:t>
            </a:r>
            <a:r>
              <a:rPr lang="en-ZM" dirty="0"/>
              <a:t> </a:t>
            </a:r>
            <a:r>
              <a:rPr lang="en-ZM" dirty="0" err="1"/>
              <a:t>Chililabombwe</a:t>
            </a:r>
            <a:r>
              <a:rPr lang="en-ZM" dirty="0"/>
              <a:t>, Zambia </a:t>
            </a:r>
            <a:r>
              <a:rPr lang="en-ZM" b="1" dirty="0"/>
              <a:t>Phone:</a:t>
            </a:r>
            <a:r>
              <a:rPr lang="en-ZM" dirty="0"/>
              <a:t> +260 970 602 929</a:t>
            </a:r>
          </a:p>
          <a:p>
            <a:r>
              <a:rPr lang="en-ZM" b="1" dirty="0"/>
              <a:t>We can’t wait to get started!</a:t>
            </a:r>
            <a:endParaRPr lang="en-ZM" dirty="0"/>
          </a:p>
          <a:p>
            <a:r>
              <a:rPr lang="en-ZM" dirty="0"/>
              <a:t>Contact us today for high-quality Pekin Ducks, Jumbo Quails, Black Australorps, Chinese Geese, Brahma Chickens, and 100% natural meat supply.</a:t>
            </a:r>
          </a:p>
          <a:p>
            <a:r>
              <a:rPr lang="en-ZM" b="1" dirty="0" err="1"/>
              <a:t>Macmel</a:t>
            </a:r>
            <a:r>
              <a:rPr lang="en-ZM" b="1" dirty="0"/>
              <a:t> Poultry Production Hub — Quality. Heritage. Sustainability.</a:t>
            </a:r>
            <a:endParaRPr lang="en-ZM" dirty="0"/>
          </a:p>
          <a:p>
            <a:endParaRPr lang="en-ZM" dirty="0"/>
          </a:p>
        </p:txBody>
      </p:sp>
    </p:spTree>
    <p:extLst>
      <p:ext uri="{BB962C8B-B14F-4D97-AF65-F5344CB8AC3E}">
        <p14:creationId xmlns:p14="http://schemas.microsoft.com/office/powerpoint/2010/main" val="335465765"/>
      </p:ext>
    </p:extLst>
  </p:cSld>
  <p:clrMapOvr>
    <a:masterClrMapping/>
  </p:clrMapOvr>
</p:sld>
</file>

<file path=ppt/theme/theme1.xml><?xml version="1.0" encoding="utf-8"?>
<a:theme xmlns:a="http://schemas.openxmlformats.org/drawingml/2006/main" name="FrostyVTI">
  <a:themeElements>
    <a:clrScheme name="Frosty">
      <a:dk1>
        <a:sysClr val="windowText" lastClr="000000"/>
      </a:dk1>
      <a:lt1>
        <a:sysClr val="window" lastClr="FFFFFF"/>
      </a:lt1>
      <a:dk2>
        <a:srgbClr val="0B2827"/>
      </a:dk2>
      <a:lt2>
        <a:srgbClr val="DAE3E3"/>
      </a:lt2>
      <a:accent1>
        <a:srgbClr val="767E37"/>
      </a:accent1>
      <a:accent2>
        <a:srgbClr val="B495C2"/>
      </a:accent2>
      <a:accent3>
        <a:srgbClr val="8FA3A3"/>
      </a:accent3>
      <a:accent4>
        <a:srgbClr val="CE7F01"/>
      </a:accent4>
      <a:accent5>
        <a:srgbClr val="D15A29"/>
      </a:accent5>
      <a:accent6>
        <a:srgbClr val="B88470"/>
      </a:accent6>
      <a:hlink>
        <a:srgbClr val="B57001"/>
      </a:hlink>
      <a:folHlink>
        <a:srgbClr val="996209"/>
      </a:folHlink>
    </a:clrScheme>
    <a:fontScheme name="Frosted Leaf">
      <a:majorFont>
        <a:latin typeface="Goudy Old Style"/>
        <a:ea typeface=""/>
        <a:cs typeface=""/>
      </a:majorFont>
      <a:minorFont>
        <a:latin typeface="Avenir Next LT Pro"/>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rostyVTI" id="{DD283BC3-E0B6-4E4B-91CF-F0F54D51BB21}" vid="{3EE220F7-F497-4893-BE1F-7BB1D607421B}"/>
    </a:ext>
  </a:extLst>
</a:theme>
</file>

<file path=docProps/app.xml><?xml version="1.0" encoding="utf-8"?>
<Properties xmlns="http://schemas.openxmlformats.org/officeDocument/2006/extended-properties" xmlns:vt="http://schemas.openxmlformats.org/officeDocument/2006/docPropsVTypes">
  <TotalTime>71</TotalTime>
  <Words>690</Words>
  <Application>Microsoft Office PowerPoint</Application>
  <PresentationFormat>Widescreen</PresentationFormat>
  <Paragraphs>48</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Avenir Next LT Pro</vt:lpstr>
      <vt:lpstr>Goudy Old Style</vt:lpstr>
      <vt:lpstr>Wingdings</vt:lpstr>
      <vt:lpstr>FrostyVTI</vt:lpstr>
      <vt:lpstr>MACMEL POULTRY PRODUCTION HUB</vt:lpstr>
      <vt:lpstr>About Us </vt:lpstr>
      <vt:lpstr>Our Mission</vt:lpstr>
      <vt:lpstr>Our Vision</vt:lpstr>
      <vt:lpstr>Our Specialty Breeds &amp; Products</vt:lpstr>
      <vt:lpstr>Our Specialty Breeds &amp; Products</vt:lpstr>
      <vt:lpstr>Black Australorps</vt:lpstr>
      <vt:lpstr>Jumbo Quails</vt:lpstr>
      <vt:lpstr>Chinese Geese</vt:lpstr>
      <vt:lpstr>Brahma Chickens</vt:lpstr>
      <vt:lpstr>Fertilized Eggs</vt:lpstr>
      <vt:lpstr>Why Choose Macmel? </vt:lpstr>
      <vt:lpstr>Our Portfolio</vt:lpstr>
      <vt:lpstr>The Team</vt:lpstr>
      <vt:lpstr>Contact 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Dominic Tembo</dc:creator>
  <cp:lastModifiedBy>Dominic Tembo</cp:lastModifiedBy>
  <cp:revision>2</cp:revision>
  <dcterms:created xsi:type="dcterms:W3CDTF">2026-06-25T10:42:22Z</dcterms:created>
  <dcterms:modified xsi:type="dcterms:W3CDTF">2026-06-25T11:56:21Z</dcterms:modified>
</cp:coreProperties>
</file>